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Bussito Salerno is a university project exploring smart contracts. The idea is to move bus ticket issuing and validation onto a shared blockchain ledger. The ticket on the right is what a ticket looks like in our system: an NFT that costs 1.30 euro in stablecoin and is valid for 90 minutes after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each bus operator runs its own ticketing: paper tickets, its own app, its own validators. A conductor can only check the tickets of their own company, and paper tickets can be photocopied or reused. All the data sits in private databases, so there is no common record that every party trusts. For the rider this means juggling several tickets and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a single shared platform for bus tickets. Operators issue tickets on it, riders hold all their tickets in one place, and any conductor can verify any ticket using the same public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blockchain rather than one central database? Because a common platform needs a record that no single operator controls. Every party reads the same state, records can’t be quietly changed, the rules are enforced by code instead of by trust, and verifying a ticket is a free read-only call. Concretely, each ticket is an ERC-721 NFT, payment is in an ERC-20 euro stablecoin, and the logic is a Solidity smart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ticket goes through four steps. The rider calls buy, which takes 1.30 EURC and mints an NFT ticket in the Unused state. On boarding the rider calls validate, which stores the block timestamp; a second call reverts. For 90 minutes the ticket is Active and isValid returns true; it also becomes non-transferable. After 90 minutes it is Expired forever. A conductor only needs two read-only calls: is the ticket active, and does it belong to the person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rider uses a web app with MetaMask to send transactions: buy and validate. The conductor view needs no wallet at all; it only makes free view calls. The BusTicket contract holds the price, the 90 minute duration and one timestamp per ticket. Payments go through an ERC-20 euro stablecoin; in our prototype a MockEURC token with 6 decimals stands in for Circle’s EURC. The operator, as contract owner, collects the revenue with withdraw.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comes from the contract rules, not from trusting an operator. A ticket can be validated once only. Only its owner can validate it. Once validated it cannot be transferred, which stops one active ticket being passed around. Tickets can’t be forged because the truth is the on-chain state, not a picture of a ticket. Payment is taken before the ticket is minted, using SafeERC20 and the checks-effects-interactions pattern, and only the owner can withdraw revenue. All of these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store as little as possible. Per ticket the contract keeps only the validation timestamp, and our own events contain only ticket IDs. But some things are public by the nature of the standards: who owns a ticket, the stablecoin payments, and the sender of every transaction. So addresses are pseudonymous, not anonymous. No names or personal details are ever written on chain; for now, a fresh address per ticket limits how much trips can be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runs on a local Hardhat chain. It has two contracts, an Ignition deployment module, a demo script that runs the whole ticket lifecycle in the terminal, and a web front end with a rider view using MetaMask and a conductor view without a wallet. A Skip 91 minutes button moves the local chain clock forward so we can show a ticket expiring live. Fourteen Solidity unit tests cover the contract’s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limits. Addresses are pseudonymous, so linking a wallet to a person exposes their travel history. Riders need a wallet and stablecoin, which is a real usability barrier. Every buy and validate costs gas and takes time, so a production version would need a cheap, fast chain such as a layer 2. Validators and conductors must be online. Revenue is controlled by a single owner key. And the prototype covers only one operator and one ticket type, on a local chain with a mock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prototype can grow into the common platform from our goal. First, the application can keep personal data about the user off chain: name, discounts such as student or senior fares, and subscriptions, stored in a protected database. On chain we would keep only a hash or a verifiable credential, so the data stays private and can be erased. Second, a registry lets many operators plug in their own ticket contracts, so one rider account accumulates all kinds of tickets. Third, one common interface to issue, validate and check tickets, used by every operator and every validator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target architecture. Rider apps, bus validators and conductor apps all talk to one common interface with three calls: issue, validate and check. Behind it, an on-chain registry lists operators and ticket types, each operator has its own ticket contracts, and a euro stablecoin settles payments. Personal data sits in a separate off-chain store; only a hash links it to the chain, so it can be updated or deleted without touching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 shared ledger that no single operator owns, ticket rules enforced by the smart contract, and free verification for any conductor. Thank you, we are happy to take questions, and we can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09420"/>
            <a:ext cx="685444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UNIVERSITY PROJECT · SMART CONTRACTS &amp; BLOCKCHAIN</a:t>
            </a:r>
            <a:endParaRPr lang="en-US" sz="1200" dirty="0"/>
          </a:p>
        </p:txBody>
      </p:sp>
      <p:sp>
        <p:nvSpPr>
          <p:cNvPr id="3" name="Text 1"/>
          <p:cNvSpPr/>
          <p:nvPr/>
        </p:nvSpPr>
        <p:spPr>
          <a:xfrm>
            <a:off x="812800" y="2176780"/>
            <a:ext cx="6854444" cy="1549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6F4EE"/>
                </a:solidFill>
                <a:latin typeface="Arial" pitchFamily="34" charset="0"/>
                <a:ea typeface="Arial" pitchFamily="34" charset="-122"/>
                <a:cs typeface="Arial" pitchFamily="34" charset="-120"/>
              </a:rPr>
              <a:t>Bussito</a:t>
            </a:r>
            <a:endParaRPr lang="en-US" sz="6000" dirty="0"/>
          </a:p>
          <a:p>
            <a:pPr algn="l" indent="0" marL="0">
              <a:lnSpc>
                <a:spcPts val="6000"/>
              </a:lnSpc>
              <a:buNone/>
            </a:pPr>
            <a:r>
              <a:rPr lang="en-US" sz="6000" b="1" dirty="0">
                <a:solidFill>
                  <a:srgbClr val="F6F4EE"/>
                </a:solidFill>
                <a:latin typeface="Arial" pitchFamily="34" charset="0"/>
                <a:ea typeface="Arial" pitchFamily="34" charset="-122"/>
                <a:cs typeface="Arial" pitchFamily="34" charset="-120"/>
              </a:rPr>
              <a:t>Salerno</a:t>
            </a:r>
            <a:endParaRPr lang="en-US" sz="6000" dirty="0"/>
          </a:p>
        </p:txBody>
      </p:sp>
      <p:sp>
        <p:nvSpPr>
          <p:cNvPr id="4" name="Text 2"/>
          <p:cNvSpPr/>
          <p:nvPr/>
        </p:nvSpPr>
        <p:spPr>
          <a:xfrm>
            <a:off x="812800" y="3954780"/>
            <a:ext cx="6854444"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Arial" pitchFamily="34" charset="0"/>
                <a:ea typeface="Arial" pitchFamily="34" charset="-122"/>
                <a:cs typeface="Arial" pitchFamily="34" charset="-120"/>
              </a:rPr>
              <a:t>One shared ledger to issue and validate every bus ticket</a:t>
            </a:r>
            <a:endParaRPr lang="en-US" sz="2200" dirty="0"/>
          </a:p>
        </p:txBody>
      </p:sp>
      <p:sp>
        <p:nvSpPr>
          <p:cNvPr id="5" name="Text 3"/>
          <p:cNvSpPr/>
          <p:nvPr/>
        </p:nvSpPr>
        <p:spPr>
          <a:xfrm>
            <a:off x="812800" y="4935220"/>
            <a:ext cx="6854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C0"/>
                </a:solidFill>
                <a:latin typeface="Arial" pitchFamily="34" charset="0"/>
                <a:ea typeface="Arial" pitchFamily="34" charset="-122"/>
                <a:cs typeface="Arial" pitchFamily="34" charset="-120"/>
              </a:rPr>
              <a:t>[Team names] · [Course] · [Date]</a:t>
            </a:r>
            <a:endParaRPr lang="en-US" sz="1200" dirty="0"/>
          </a:p>
        </p:txBody>
      </p:sp>
      <p:sp>
        <p:nvSpPr>
          <p:cNvPr id="6" name="Shape 4"/>
          <p:cNvSpPr/>
          <p:nvPr/>
        </p:nvSpPr>
        <p:spPr>
          <a:xfrm>
            <a:off x="8077200" y="1950720"/>
            <a:ext cx="3302000" cy="2956560"/>
          </a:xfrm>
          <a:prstGeom prst="roundRect">
            <a:avLst>
              <a:gd name="adj" fmla="val 5155"/>
            </a:avLst>
          </a:prstGeom>
          <a:solidFill>
            <a:srgbClr val="F6F4EE"/>
          </a:solidFill>
          <a:ln/>
          <a:effectLst>
            <a:outerShdw sx="100000" sy="100000" kx="0" ky="0" algn="bl" rotWithShape="0" blurRad="406400" dist="152400" dir="5400000">
              <a:srgbClr val="000000">
                <a:alpha val="35000"/>
              </a:srgbClr>
            </a:outerShdw>
          </a:effectLst>
        </p:spPr>
      </p:sp>
      <p:sp>
        <p:nvSpPr>
          <p:cNvPr id="7" name="Text 5"/>
          <p:cNvSpPr/>
          <p:nvPr/>
        </p:nvSpPr>
        <p:spPr>
          <a:xfrm>
            <a:off x="8382000" y="2255520"/>
            <a:ext cx="27731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Courier New" pitchFamily="49" charset="0"/>
                <a:ea typeface="Courier New" pitchFamily="49" charset="-122"/>
                <a:cs typeface="Courier New" pitchFamily="49" charset="-120"/>
              </a:rPr>
              <a:t>BUS · ERC-721</a:t>
            </a:r>
            <a:endParaRPr lang="en-US" sz="1200" dirty="0"/>
          </a:p>
        </p:txBody>
      </p:sp>
      <p:sp>
        <p:nvSpPr>
          <p:cNvPr id="8" name="Text 6"/>
          <p:cNvSpPr/>
          <p:nvPr/>
        </p:nvSpPr>
        <p:spPr>
          <a:xfrm>
            <a:off x="8382000" y="2621280"/>
            <a:ext cx="277317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213D"/>
                </a:solidFill>
                <a:latin typeface="Arial" pitchFamily="34" charset="0"/>
                <a:ea typeface="Arial" pitchFamily="34" charset="-122"/>
                <a:cs typeface="Arial" pitchFamily="34" charset="-120"/>
              </a:rPr>
              <a:t>Ticket #42</a:t>
            </a:r>
            <a:endParaRPr lang="en-US" sz="3600" dirty="0"/>
          </a:p>
        </p:txBody>
      </p:sp>
      <p:pic>
        <p:nvPicPr>
          <p:cNvPr id="9" name="Image 0" descr="line">    </p:cNvPr>
          <p:cNvPicPr>
            <a:picLocks noChangeAspect="1"/>
          </p:cNvPicPr>
          <p:nvPr/>
        </p:nvPicPr>
        <p:blipFill>
          <a:blip r:embed="rId1"/>
          <a:srcRect l="-2083" r="-2083" t="0" b="0"/>
          <a:stretch/>
        </p:blipFill>
        <p:spPr>
          <a:xfrm>
            <a:off x="8382000" y="3230880"/>
            <a:ext cx="2692400" cy="30480"/>
          </a:xfrm>
          <a:prstGeom prst="rect">
            <a:avLst/>
          </a:prstGeom>
        </p:spPr>
      </p:pic>
      <p:sp>
        <p:nvSpPr>
          <p:cNvPr id="10" name="Text 7"/>
          <p:cNvSpPr/>
          <p:nvPr/>
        </p:nvSpPr>
        <p:spPr>
          <a:xfrm>
            <a:off x="8382000" y="3413760"/>
            <a:ext cx="55559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Price</a:t>
            </a:r>
            <a:endParaRPr lang="en-US" sz="1600" dirty="0"/>
          </a:p>
        </p:txBody>
      </p:sp>
      <p:sp>
        <p:nvSpPr>
          <p:cNvPr id="11" name="Text 8"/>
          <p:cNvSpPr/>
          <p:nvPr/>
        </p:nvSpPr>
        <p:spPr>
          <a:xfrm>
            <a:off x="9757378" y="3413760"/>
            <a:ext cx="1317022"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Courier New" pitchFamily="49" charset="0"/>
                <a:ea typeface="Courier New" pitchFamily="49" charset="-122"/>
                <a:cs typeface="Courier New" pitchFamily="49" charset="-120"/>
              </a:rPr>
              <a:t>1.30 EURC</a:t>
            </a:r>
            <a:endParaRPr lang="en-US" sz="1600" dirty="0"/>
          </a:p>
        </p:txBody>
      </p:sp>
      <p:sp>
        <p:nvSpPr>
          <p:cNvPr id="12" name="Text 9"/>
          <p:cNvSpPr/>
          <p:nvPr/>
        </p:nvSpPr>
        <p:spPr>
          <a:xfrm>
            <a:off x="8382000" y="3850640"/>
            <a:ext cx="87649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Valid for</a:t>
            </a:r>
            <a:endParaRPr lang="en-US" sz="1600" dirty="0"/>
          </a:p>
        </p:txBody>
      </p:sp>
      <p:sp>
        <p:nvSpPr>
          <p:cNvPr id="13" name="Text 10"/>
          <p:cNvSpPr/>
          <p:nvPr/>
        </p:nvSpPr>
        <p:spPr>
          <a:xfrm>
            <a:off x="10196386" y="3850640"/>
            <a:ext cx="878014"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4213D"/>
                </a:solidFill>
                <a:latin typeface="Courier New" pitchFamily="49" charset="0"/>
                <a:ea typeface="Courier New" pitchFamily="49" charset="-122"/>
                <a:cs typeface="Courier New" pitchFamily="49" charset="-120"/>
              </a:rPr>
              <a:t>90 min</a:t>
            </a:r>
            <a:endParaRPr lang="en-US" sz="1600" dirty="0"/>
          </a:p>
        </p:txBody>
      </p:sp>
      <p:sp>
        <p:nvSpPr>
          <p:cNvPr id="14" name="Text 11"/>
          <p:cNvSpPr/>
          <p:nvPr/>
        </p:nvSpPr>
        <p:spPr>
          <a:xfrm>
            <a:off x="8382000" y="4302760"/>
            <a:ext cx="69132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Status</a:t>
            </a:r>
            <a:endParaRPr lang="en-US" sz="1600" dirty="0"/>
          </a:p>
        </p:txBody>
      </p:sp>
      <p:sp>
        <p:nvSpPr>
          <p:cNvPr id="15" name="Text 12"/>
          <p:cNvSpPr/>
          <p:nvPr/>
        </p:nvSpPr>
        <p:spPr>
          <a:xfrm>
            <a:off x="10185321" y="4287520"/>
            <a:ext cx="889079" cy="314960"/>
          </a:xfrm>
          <a:prstGeom prst="roundRect">
            <a:avLst>
              <a:gd name="adj" fmla="val 50000"/>
            </a:avLst>
          </a:prstGeom>
          <a:solidFill>
            <a:srgbClr val="F2A541"/>
          </a:solidFill>
          <a:ln/>
        </p:spPr>
        <p:txBody>
          <a:bodyPr wrap="none" lIns="0" tIns="0" rIns="0" bIns="0" rtlCol="0" anchor="ctr">
            <a:normAutofit/>
          </a:bodyPr>
          <a:lstStyle/>
          <a:p>
            <a:pPr algn="ctr"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ACTIVE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Bus tickets are fragmented</a:t>
            </a:r>
            <a:endParaRPr lang="en-US" sz="3600" dirty="0"/>
          </a:p>
        </p:txBody>
      </p:sp>
      <p:sp>
        <p:nvSpPr>
          <p:cNvPr id="4" name="Shape 2"/>
          <p:cNvSpPr/>
          <p:nvPr/>
        </p:nvSpPr>
        <p:spPr>
          <a:xfrm>
            <a:off x="815975" y="2336165"/>
            <a:ext cx="3380264" cy="2719070"/>
          </a:xfrm>
          <a:prstGeom prst="roundRect">
            <a:avLst>
              <a:gd name="adj" fmla="val 4554"/>
            </a:avLst>
          </a:prstGeom>
          <a:solidFill>
            <a:srgbClr val="FBFAF6"/>
          </a:solidFill>
          <a:ln w="6350">
            <a:solidFill>
              <a:srgbClr val="E2DDCF"/>
            </a:solidFill>
            <a:prstDash val="solid"/>
          </a:ln>
        </p:spPr>
      </p:sp>
      <p:pic>
        <p:nvPicPr>
          <p:cNvPr id="5" name="Image 0" descr="Settings">    </p:cNvPr>
          <p:cNvPicPr>
            <a:picLocks noChangeAspect="1"/>
          </p:cNvPicPr>
          <p:nvPr/>
        </p:nvPicPr>
        <p:blipFill>
          <a:blip r:embed="rId1"/>
          <a:srcRect l="0" r="0" t="0" b="0"/>
          <a:stretch/>
        </p:blipFill>
        <p:spPr>
          <a:xfrm>
            <a:off x="1122680" y="2642870"/>
            <a:ext cx="355600" cy="355600"/>
          </a:xfrm>
          <a:prstGeom prst="rect">
            <a:avLst/>
          </a:prstGeom>
        </p:spPr>
      </p:pic>
      <p:sp>
        <p:nvSpPr>
          <p:cNvPr id="6" name="Text 3"/>
          <p:cNvSpPr/>
          <p:nvPr/>
        </p:nvSpPr>
        <p:spPr>
          <a:xfrm>
            <a:off x="1122680" y="3125470"/>
            <a:ext cx="2849859"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Arial" pitchFamily="34" charset="0"/>
                <a:ea typeface="Arial" pitchFamily="34" charset="-122"/>
                <a:cs typeface="Arial" pitchFamily="34" charset="-120"/>
              </a:rPr>
              <a:t>Every operator, its own system</a:t>
            </a:r>
            <a:endParaRPr lang="en-US" sz="2200" dirty="0"/>
          </a:p>
        </p:txBody>
      </p:sp>
      <p:sp>
        <p:nvSpPr>
          <p:cNvPr id="7" name="Text 4"/>
          <p:cNvSpPr/>
          <p:nvPr/>
        </p:nvSpPr>
        <p:spPr>
          <a:xfrm>
            <a:off x="1122680" y="3895090"/>
            <a:ext cx="284985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Paper tickets, separate apps and validators that don’t talk to each other.</a:t>
            </a:r>
            <a:endParaRPr lang="en-US" sz="1600" dirty="0"/>
          </a:p>
        </p:txBody>
      </p:sp>
      <p:sp>
        <p:nvSpPr>
          <p:cNvPr id="8" name="Shape 5"/>
          <p:cNvSpPr/>
          <p:nvPr/>
        </p:nvSpPr>
        <p:spPr>
          <a:xfrm>
            <a:off x="4405789" y="2336165"/>
            <a:ext cx="3380343" cy="2719070"/>
          </a:xfrm>
          <a:prstGeom prst="roundRect">
            <a:avLst>
              <a:gd name="adj" fmla="val 4554"/>
            </a:avLst>
          </a:prstGeom>
          <a:solidFill>
            <a:srgbClr val="FBFAF6"/>
          </a:solidFill>
          <a:ln w="6350">
            <a:solidFill>
              <a:srgbClr val="E2DDCF"/>
            </a:solidFill>
            <a:prstDash val="solid"/>
          </a:ln>
        </p:spPr>
      </p:sp>
      <p:pic>
        <p:nvPicPr>
          <p:cNvPr id="9" name="Image 1" descr="Warning">    </p:cNvPr>
          <p:cNvPicPr>
            <a:picLocks noChangeAspect="1"/>
          </p:cNvPicPr>
          <p:nvPr/>
        </p:nvPicPr>
        <p:blipFill>
          <a:blip r:embed="rId2"/>
          <a:srcRect l="0" r="0" t="0" b="0"/>
          <a:stretch/>
        </p:blipFill>
        <p:spPr>
          <a:xfrm>
            <a:off x="4712494" y="2642870"/>
            <a:ext cx="355600" cy="355600"/>
          </a:xfrm>
          <a:prstGeom prst="rect">
            <a:avLst/>
          </a:prstGeom>
        </p:spPr>
      </p:pic>
      <p:sp>
        <p:nvSpPr>
          <p:cNvPr id="10" name="Text 6"/>
          <p:cNvSpPr/>
          <p:nvPr/>
        </p:nvSpPr>
        <p:spPr>
          <a:xfrm>
            <a:off x="4712494" y="3125470"/>
            <a:ext cx="2849941"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Arial" pitchFamily="34" charset="0"/>
                <a:ea typeface="Arial" pitchFamily="34" charset="-122"/>
                <a:cs typeface="Arial" pitchFamily="34" charset="-120"/>
              </a:rPr>
              <a:t>Hard to verify</a:t>
            </a:r>
            <a:endParaRPr lang="en-US" sz="2200" dirty="0"/>
          </a:p>
        </p:txBody>
      </p:sp>
      <p:sp>
        <p:nvSpPr>
          <p:cNvPr id="11" name="Text 7"/>
          <p:cNvSpPr/>
          <p:nvPr/>
        </p:nvSpPr>
        <p:spPr>
          <a:xfrm>
            <a:off x="4712494" y="3573780"/>
            <a:ext cx="2849941"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 conductor can only check their own operator’s tickets. Paper is easy to copy or reuse.</a:t>
            </a:r>
            <a:endParaRPr lang="en-US" sz="1600" dirty="0"/>
          </a:p>
        </p:txBody>
      </p:sp>
      <p:sp>
        <p:nvSpPr>
          <p:cNvPr id="12" name="Shape 8"/>
          <p:cNvSpPr/>
          <p:nvPr/>
        </p:nvSpPr>
        <p:spPr>
          <a:xfrm>
            <a:off x="7995682" y="2336165"/>
            <a:ext cx="3380343" cy="2719070"/>
          </a:xfrm>
          <a:prstGeom prst="roundRect">
            <a:avLst>
              <a:gd name="adj" fmla="val 4554"/>
            </a:avLst>
          </a:prstGeom>
          <a:solidFill>
            <a:srgbClr val="FBFAF6"/>
          </a:solidFill>
          <a:ln w="6350">
            <a:solidFill>
              <a:srgbClr val="E2DDCF"/>
            </a:solidFill>
            <a:prstDash val="solid"/>
          </a:ln>
        </p:spPr>
      </p:sp>
      <p:pic>
        <p:nvPicPr>
          <p:cNvPr id="13" name="Image 2" descr="Database">    </p:cNvPr>
          <p:cNvPicPr>
            <a:picLocks noChangeAspect="1"/>
          </p:cNvPicPr>
          <p:nvPr/>
        </p:nvPicPr>
        <p:blipFill>
          <a:blip r:embed="rId3"/>
          <a:srcRect l="0" r="0" t="0" b="0"/>
          <a:stretch/>
        </p:blipFill>
        <p:spPr>
          <a:xfrm>
            <a:off x="8302387" y="2642870"/>
            <a:ext cx="355600" cy="355600"/>
          </a:xfrm>
          <a:prstGeom prst="rect">
            <a:avLst/>
          </a:prstGeom>
        </p:spPr>
      </p:pic>
      <p:sp>
        <p:nvSpPr>
          <p:cNvPr id="14" name="Text 9"/>
          <p:cNvSpPr/>
          <p:nvPr/>
        </p:nvSpPr>
        <p:spPr>
          <a:xfrm>
            <a:off x="8302387" y="3125470"/>
            <a:ext cx="2849941"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Arial" pitchFamily="34" charset="0"/>
                <a:ea typeface="Arial" pitchFamily="34" charset="-122"/>
                <a:cs typeface="Arial" pitchFamily="34" charset="-120"/>
              </a:rPr>
              <a:t>No shared source of truth</a:t>
            </a:r>
            <a:endParaRPr lang="en-US" sz="2200" dirty="0"/>
          </a:p>
        </p:txBody>
      </p:sp>
      <p:sp>
        <p:nvSpPr>
          <p:cNvPr id="15" name="Text 10"/>
          <p:cNvSpPr/>
          <p:nvPr/>
        </p:nvSpPr>
        <p:spPr>
          <a:xfrm>
            <a:off x="8302387" y="3895090"/>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Sales and validations sit in private databases that nobody can audit independently.</a:t>
            </a:r>
            <a:endParaRPr lang="en-US" sz="1600" dirty="0"/>
          </a:p>
        </p:txBody>
      </p:sp>
      <p:sp>
        <p:nvSpPr>
          <p:cNvPr id="16" name="Text 11"/>
          <p:cNvSpPr/>
          <p:nvPr/>
        </p:nvSpPr>
        <p:spPr>
          <a:xfrm>
            <a:off x="812800" y="57607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For a rider: </a:t>
            </a:r>
            <a:r>
              <a:rPr lang="en-US" sz="1600" b="1" dirty="0">
                <a:solidFill>
                  <a:srgbClr val="14213D"/>
                </a:solidFill>
                <a:latin typeface="Arial" pitchFamily="34" charset="0"/>
                <a:ea typeface="Arial" pitchFamily="34" charset="-122"/>
                <a:cs typeface="Arial" pitchFamily="34" charset="-120"/>
              </a:rPr>
              <a:t>a different ticket, app and payment method for every bus.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A541"/>
        </a:solidFill>
      </p:bgPr>
    </p:bg>
    <p:spTree>
      <p:nvGrpSpPr>
        <p:cNvPr id="1" name=""/>
        <p:cNvGrpSpPr/>
        <p:nvPr/>
      </p:nvGrpSpPr>
      <p:grpSpPr>
        <a:xfrm>
          <a:off x="0" y="0"/>
          <a:ext cx="0" cy="0"/>
          <a:chOff x="0" y="0"/>
          <a:chExt cx="0" cy="0"/>
        </a:xfrm>
      </p:grpSpPr>
      <p:sp>
        <p:nvSpPr>
          <p:cNvPr id="2" name="Text 0"/>
          <p:cNvSpPr/>
          <p:nvPr/>
        </p:nvSpPr>
        <p:spPr>
          <a:xfrm>
            <a:off x="812800" y="19913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Arial" pitchFamily="34" charset="0"/>
                <a:ea typeface="Arial" pitchFamily="34" charset="-122"/>
                <a:cs typeface="Arial" pitchFamily="34" charset="-120"/>
              </a:rPr>
              <a:t>THE GOAL</a:t>
            </a:r>
            <a:endParaRPr lang="en-US" sz="1200" dirty="0"/>
          </a:p>
        </p:txBody>
      </p:sp>
      <p:sp>
        <p:nvSpPr>
          <p:cNvPr id="3" name="Text 1"/>
          <p:cNvSpPr/>
          <p:nvPr/>
        </p:nvSpPr>
        <p:spPr>
          <a:xfrm>
            <a:off x="812800" y="25095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4213D"/>
                </a:solidFill>
                <a:latin typeface="Arial" pitchFamily="34" charset="0"/>
                <a:ea typeface="Arial" pitchFamily="34" charset="-122"/>
                <a:cs typeface="Arial" pitchFamily="34" charset="-120"/>
              </a:rPr>
              <a:t>One common platform for all bus tickets</a:t>
            </a:r>
            <a:endParaRPr lang="en-US" sz="6000" dirty="0"/>
          </a:p>
        </p:txBody>
      </p:sp>
      <p:sp>
        <p:nvSpPr>
          <p:cNvPr id="4" name="Shape 2"/>
          <p:cNvSpPr/>
          <p:nvPr/>
        </p:nvSpPr>
        <p:spPr>
          <a:xfrm>
            <a:off x="812800" y="4424045"/>
            <a:ext cx="3318907" cy="0"/>
          </a:xfrm>
          <a:prstGeom prst="line">
            <a:avLst/>
          </a:prstGeom>
          <a:noFill/>
          <a:ln w="19050">
            <a:solidFill>
              <a:srgbClr val="14213D"/>
            </a:solidFill>
            <a:prstDash val="solid"/>
          </a:ln>
        </p:spPr>
      </p:sp>
      <p:sp>
        <p:nvSpPr>
          <p:cNvPr id="5" name="Text 3"/>
          <p:cNvSpPr/>
          <p:nvPr/>
        </p:nvSpPr>
        <p:spPr>
          <a:xfrm>
            <a:off x="812800" y="458216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Any </a:t>
            </a:r>
            <a:r>
              <a:rPr lang="en-US" sz="1600" b="1" dirty="0">
                <a:solidFill>
                  <a:srgbClr val="14213D"/>
                </a:solidFill>
                <a:latin typeface="Arial" pitchFamily="34" charset="0"/>
                <a:ea typeface="Arial" pitchFamily="34" charset="-122"/>
                <a:cs typeface="Arial" pitchFamily="34" charset="-120"/>
              </a:rPr>
              <a:t>operator</a:t>
            </a:r>
            <a:r>
              <a:rPr lang="en-US" sz="1600" dirty="0">
                <a:solidFill>
                  <a:srgbClr val="14213D"/>
                </a:solidFill>
                <a:latin typeface="Arial" pitchFamily="34" charset="0"/>
                <a:ea typeface="Arial" pitchFamily="34" charset="-122"/>
                <a:cs typeface="Arial" pitchFamily="34" charset="-120"/>
              </a:rPr>
              <a:t> issues tickets on it</a:t>
            </a:r>
            <a:endParaRPr lang="en-US" sz="1600" dirty="0"/>
          </a:p>
        </p:txBody>
      </p:sp>
      <p:sp>
        <p:nvSpPr>
          <p:cNvPr id="6" name="Shape 4"/>
          <p:cNvSpPr/>
          <p:nvPr/>
        </p:nvSpPr>
        <p:spPr>
          <a:xfrm>
            <a:off x="4436507" y="4424045"/>
            <a:ext cx="3318986" cy="0"/>
          </a:xfrm>
          <a:prstGeom prst="line">
            <a:avLst/>
          </a:prstGeom>
          <a:noFill/>
          <a:ln w="19050">
            <a:solidFill>
              <a:srgbClr val="14213D"/>
            </a:solidFill>
            <a:prstDash val="solid"/>
          </a:ln>
        </p:spPr>
      </p:sp>
      <p:sp>
        <p:nvSpPr>
          <p:cNvPr id="7" name="Text 5"/>
          <p:cNvSpPr/>
          <p:nvPr/>
        </p:nvSpPr>
        <p:spPr>
          <a:xfrm>
            <a:off x="4436507" y="4582160"/>
            <a:ext cx="341855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Any </a:t>
            </a:r>
            <a:r>
              <a:rPr lang="en-US" sz="1600" b="1" dirty="0">
                <a:solidFill>
                  <a:srgbClr val="14213D"/>
                </a:solidFill>
                <a:latin typeface="Arial" pitchFamily="34" charset="0"/>
                <a:ea typeface="Arial" pitchFamily="34" charset="-122"/>
                <a:cs typeface="Arial" pitchFamily="34" charset="-120"/>
              </a:rPr>
              <a:t>rider</a:t>
            </a:r>
            <a:r>
              <a:rPr lang="en-US" sz="1600" dirty="0">
                <a:solidFill>
                  <a:srgbClr val="14213D"/>
                </a:solidFill>
                <a:latin typeface="Arial" pitchFamily="34" charset="0"/>
                <a:ea typeface="Arial" pitchFamily="34" charset="-122"/>
                <a:cs typeface="Arial" pitchFamily="34" charset="-120"/>
              </a:rPr>
              <a:t> keeps them in one wallet</a:t>
            </a:r>
            <a:endParaRPr lang="en-US" sz="1600" dirty="0"/>
          </a:p>
        </p:txBody>
      </p:sp>
      <p:sp>
        <p:nvSpPr>
          <p:cNvPr id="8" name="Shape 6"/>
          <p:cNvSpPr/>
          <p:nvPr/>
        </p:nvSpPr>
        <p:spPr>
          <a:xfrm>
            <a:off x="8060293" y="4424045"/>
            <a:ext cx="3318907" cy="0"/>
          </a:xfrm>
          <a:prstGeom prst="line">
            <a:avLst/>
          </a:prstGeom>
          <a:noFill/>
          <a:ln w="19050">
            <a:solidFill>
              <a:srgbClr val="14213D"/>
            </a:solidFill>
            <a:prstDash val="solid"/>
          </a:ln>
        </p:spPr>
      </p:sp>
      <p:sp>
        <p:nvSpPr>
          <p:cNvPr id="9" name="Text 7"/>
          <p:cNvSpPr/>
          <p:nvPr/>
        </p:nvSpPr>
        <p:spPr>
          <a:xfrm>
            <a:off x="8060293" y="4582160"/>
            <a:ext cx="34184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Any </a:t>
            </a:r>
            <a:r>
              <a:rPr lang="en-US" sz="1600" b="1" dirty="0">
                <a:solidFill>
                  <a:srgbClr val="14213D"/>
                </a:solidFill>
                <a:latin typeface="Arial" pitchFamily="34" charset="0"/>
                <a:ea typeface="Arial" pitchFamily="34" charset="-122"/>
                <a:cs typeface="Arial" pitchFamily="34" charset="-120"/>
              </a:rPr>
              <a:t>conductor</a:t>
            </a:r>
            <a:r>
              <a:rPr lang="en-US" sz="1600" dirty="0">
                <a:solidFill>
                  <a:srgbClr val="14213D"/>
                </a:solidFill>
                <a:latin typeface="Arial" pitchFamily="34" charset="0"/>
                <a:ea typeface="Arial" pitchFamily="34" charset="-122"/>
                <a:cs typeface="Arial" pitchFamily="34" charset="-120"/>
              </a:rPr>
              <a:t> can check them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WHY A BLOCKCHAIN</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A ledger no single operator owns</a:t>
            </a:r>
            <a:endParaRPr lang="en-US" sz="3600" dirty="0"/>
          </a:p>
        </p:txBody>
      </p:sp>
      <p:sp>
        <p:nvSpPr>
          <p:cNvPr id="4" name="Shape 2"/>
          <p:cNvSpPr/>
          <p:nvPr/>
        </p:nvSpPr>
        <p:spPr>
          <a:xfrm>
            <a:off x="815975" y="1938655"/>
            <a:ext cx="5175250" cy="1670050"/>
          </a:xfrm>
          <a:prstGeom prst="roundRect">
            <a:avLst>
              <a:gd name="adj" fmla="val 7414"/>
            </a:avLst>
          </a:prstGeom>
          <a:solidFill>
            <a:srgbClr val="FBFAF6"/>
          </a:solidFill>
          <a:ln w="6350">
            <a:solidFill>
              <a:srgbClr val="E2DDCF"/>
            </a:solidFill>
            <a:prstDash val="solid"/>
          </a:ln>
        </p:spPr>
      </p:sp>
      <p:pic>
        <p:nvPicPr>
          <p:cNvPr id="5" name="Image 0" descr="Trust">    </p:cNvPr>
          <p:cNvPicPr>
            <a:picLocks noChangeAspect="1"/>
          </p:cNvPicPr>
          <p:nvPr/>
        </p:nvPicPr>
        <p:blipFill>
          <a:blip r:embed="rId1"/>
          <a:srcRect l="0" r="0" t="0" b="0"/>
          <a:stretch/>
        </p:blipFill>
        <p:spPr>
          <a:xfrm>
            <a:off x="1071880" y="2194561"/>
            <a:ext cx="355600" cy="355600"/>
          </a:xfrm>
          <a:prstGeom prst="rect">
            <a:avLst/>
          </a:prstGeom>
        </p:spPr>
      </p:pic>
      <p:sp>
        <p:nvSpPr>
          <p:cNvPr id="6" name="Text 3"/>
          <p:cNvSpPr/>
          <p:nvPr/>
        </p:nvSpPr>
        <p:spPr>
          <a:xfrm>
            <a:off x="1630680" y="2194561"/>
            <a:ext cx="422777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Neutral and shared</a:t>
            </a:r>
            <a:endParaRPr lang="en-US" sz="2200" dirty="0"/>
          </a:p>
        </p:txBody>
      </p:sp>
      <p:sp>
        <p:nvSpPr>
          <p:cNvPr id="7" name="Text 4"/>
          <p:cNvSpPr/>
          <p:nvPr/>
        </p:nvSpPr>
        <p:spPr>
          <a:xfrm>
            <a:off x="1630680" y="2606041"/>
            <a:ext cx="422777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All operators and conductors read the same state.</a:t>
            </a:r>
            <a:endParaRPr lang="en-US" sz="1600" dirty="0"/>
          </a:p>
        </p:txBody>
      </p:sp>
      <p:sp>
        <p:nvSpPr>
          <p:cNvPr id="8" name="Shape 5"/>
          <p:cNvSpPr/>
          <p:nvPr/>
        </p:nvSpPr>
        <p:spPr>
          <a:xfrm>
            <a:off x="6200775" y="1938655"/>
            <a:ext cx="5175250" cy="1670050"/>
          </a:xfrm>
          <a:prstGeom prst="roundRect">
            <a:avLst>
              <a:gd name="adj" fmla="val 7414"/>
            </a:avLst>
          </a:prstGeom>
          <a:solidFill>
            <a:srgbClr val="FBFAF6"/>
          </a:solidFill>
          <a:ln w="6350">
            <a:solidFill>
              <a:srgbClr val="E2DDCF"/>
            </a:solidFill>
            <a:prstDash val="solid"/>
          </a:ln>
        </p:spPr>
      </p:sp>
      <p:pic>
        <p:nvPicPr>
          <p:cNvPr id="9" name="Image 1" descr="Lock">    </p:cNvPr>
          <p:cNvPicPr>
            <a:picLocks noChangeAspect="1"/>
          </p:cNvPicPr>
          <p:nvPr/>
        </p:nvPicPr>
        <p:blipFill>
          <a:blip r:embed="rId2"/>
          <a:srcRect l="0" r="0" t="0" b="0"/>
          <a:stretch/>
        </p:blipFill>
        <p:spPr>
          <a:xfrm>
            <a:off x="6456680" y="2194561"/>
            <a:ext cx="355600" cy="355600"/>
          </a:xfrm>
          <a:prstGeom prst="rect">
            <a:avLst/>
          </a:prstGeom>
        </p:spPr>
      </p:pic>
      <p:sp>
        <p:nvSpPr>
          <p:cNvPr id="10" name="Text 6"/>
          <p:cNvSpPr/>
          <p:nvPr/>
        </p:nvSpPr>
        <p:spPr>
          <a:xfrm>
            <a:off x="7015480" y="2194561"/>
            <a:ext cx="422777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Tamper-evident</a:t>
            </a:r>
            <a:endParaRPr lang="en-US" sz="2200" dirty="0"/>
          </a:p>
        </p:txBody>
      </p:sp>
      <p:sp>
        <p:nvSpPr>
          <p:cNvPr id="11" name="Text 7"/>
          <p:cNvSpPr/>
          <p:nvPr/>
        </p:nvSpPr>
        <p:spPr>
          <a:xfrm>
            <a:off x="7015480" y="2606041"/>
            <a:ext cx="422777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 recorded validation can’t be edited or deleted.</a:t>
            </a:r>
            <a:endParaRPr lang="en-US" sz="1600" dirty="0"/>
          </a:p>
        </p:txBody>
      </p:sp>
      <p:sp>
        <p:nvSpPr>
          <p:cNvPr id="12" name="Shape 8"/>
          <p:cNvSpPr/>
          <p:nvPr/>
        </p:nvSpPr>
        <p:spPr>
          <a:xfrm>
            <a:off x="815975" y="3818255"/>
            <a:ext cx="5175250" cy="1670050"/>
          </a:xfrm>
          <a:prstGeom prst="roundRect">
            <a:avLst>
              <a:gd name="adj" fmla="val 7414"/>
            </a:avLst>
          </a:prstGeom>
          <a:solidFill>
            <a:srgbClr val="FBFAF6"/>
          </a:solidFill>
          <a:ln w="6350">
            <a:solidFill>
              <a:srgbClr val="E2DDCF"/>
            </a:solidFill>
            <a:prstDash val="solid"/>
          </a:ln>
        </p:spPr>
      </p:sp>
      <p:pic>
        <p:nvPicPr>
          <p:cNvPr id="13" name="Image 2" descr="Code">    </p:cNvPr>
          <p:cNvPicPr>
            <a:picLocks noChangeAspect="1"/>
          </p:cNvPicPr>
          <p:nvPr/>
        </p:nvPicPr>
        <p:blipFill>
          <a:blip r:embed="rId3"/>
          <a:srcRect l="0" r="0" t="0" b="0"/>
          <a:stretch/>
        </p:blipFill>
        <p:spPr>
          <a:xfrm>
            <a:off x="1071880" y="4074161"/>
            <a:ext cx="355600" cy="355600"/>
          </a:xfrm>
          <a:prstGeom prst="rect">
            <a:avLst/>
          </a:prstGeom>
        </p:spPr>
      </p:pic>
      <p:sp>
        <p:nvSpPr>
          <p:cNvPr id="14" name="Text 9"/>
          <p:cNvSpPr/>
          <p:nvPr/>
        </p:nvSpPr>
        <p:spPr>
          <a:xfrm>
            <a:off x="1630680" y="4074161"/>
            <a:ext cx="422777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Rules as code</a:t>
            </a:r>
            <a:endParaRPr lang="en-US" sz="2200" dirty="0"/>
          </a:p>
        </p:txBody>
      </p:sp>
      <p:sp>
        <p:nvSpPr>
          <p:cNvPr id="15" name="Text 10"/>
          <p:cNvSpPr/>
          <p:nvPr/>
        </p:nvSpPr>
        <p:spPr>
          <a:xfrm>
            <a:off x="1630680" y="4485641"/>
            <a:ext cx="422777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The smart contract applies ticket rules the same way for everyone.</a:t>
            </a:r>
            <a:endParaRPr lang="en-US" sz="1600" dirty="0"/>
          </a:p>
        </p:txBody>
      </p:sp>
      <p:sp>
        <p:nvSpPr>
          <p:cNvPr id="16" name="Shape 11"/>
          <p:cNvSpPr/>
          <p:nvPr/>
        </p:nvSpPr>
        <p:spPr>
          <a:xfrm>
            <a:off x="6200775" y="3818255"/>
            <a:ext cx="5175250" cy="1670050"/>
          </a:xfrm>
          <a:prstGeom prst="roundRect">
            <a:avLst>
              <a:gd name="adj" fmla="val 7414"/>
            </a:avLst>
          </a:prstGeom>
          <a:solidFill>
            <a:srgbClr val="FBFAF6"/>
          </a:solidFill>
          <a:ln w="6350">
            <a:solidFill>
              <a:srgbClr val="E2DDCF"/>
            </a:solidFill>
            <a:prstDash val="solid"/>
          </a:ln>
        </p:spPr>
      </p:sp>
      <p:pic>
        <p:nvPicPr>
          <p:cNvPr id="17" name="Image 3" descr="Search">    </p:cNvPr>
          <p:cNvPicPr>
            <a:picLocks noChangeAspect="1"/>
          </p:cNvPicPr>
          <p:nvPr/>
        </p:nvPicPr>
        <p:blipFill>
          <a:blip r:embed="rId4"/>
          <a:srcRect l="0" r="0" t="0" b="0"/>
          <a:stretch/>
        </p:blipFill>
        <p:spPr>
          <a:xfrm>
            <a:off x="6456680" y="4074161"/>
            <a:ext cx="355600" cy="355600"/>
          </a:xfrm>
          <a:prstGeom prst="rect">
            <a:avLst/>
          </a:prstGeom>
        </p:spPr>
      </p:pic>
      <p:sp>
        <p:nvSpPr>
          <p:cNvPr id="18" name="Text 12"/>
          <p:cNvSpPr/>
          <p:nvPr/>
        </p:nvSpPr>
        <p:spPr>
          <a:xfrm>
            <a:off x="7015480" y="4074161"/>
            <a:ext cx="422777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Free to verify</a:t>
            </a:r>
            <a:endParaRPr lang="en-US" sz="2200" dirty="0"/>
          </a:p>
        </p:txBody>
      </p:sp>
      <p:sp>
        <p:nvSpPr>
          <p:cNvPr id="19" name="Text 13"/>
          <p:cNvSpPr/>
          <p:nvPr/>
        </p:nvSpPr>
        <p:spPr>
          <a:xfrm>
            <a:off x="7015480" y="4485641"/>
            <a:ext cx="422777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Checking a ticket is a read-only call: no wallet, no fee.</a:t>
            </a:r>
            <a:endParaRPr lang="en-US" sz="1600" dirty="0"/>
          </a:p>
        </p:txBody>
      </p:sp>
      <p:sp>
        <p:nvSpPr>
          <p:cNvPr id="20" name="Text 14"/>
          <p:cNvSpPr/>
          <p:nvPr/>
        </p:nvSpPr>
        <p:spPr>
          <a:xfrm>
            <a:off x="812800" y="57962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Arial" pitchFamily="34" charset="0"/>
                <a:ea typeface="Arial" pitchFamily="34" charset="-122"/>
                <a:cs typeface="Arial" pitchFamily="34" charset="-120"/>
              </a:rPr>
              <a:t>How:</a:t>
            </a:r>
            <a:r>
              <a:rPr lang="en-US" sz="1400" dirty="0">
                <a:solidFill>
                  <a:srgbClr val="4A5568"/>
                </a:solidFill>
                <a:latin typeface="Arial" pitchFamily="34" charset="0"/>
                <a:ea typeface="Arial" pitchFamily="34" charset="-122"/>
                <a:cs typeface="Arial" pitchFamily="34" charset="-120"/>
              </a:rPr>
              <a:t> ticket = ERC-721 NFT · payment = ERC-20 euro stablecoin · logic = Solidity smart contract on an EVM chain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HOW IT WORKS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E"/>
                </a:solidFill>
                <a:latin typeface="Arial" pitchFamily="34" charset="0"/>
                <a:ea typeface="Arial" pitchFamily="34" charset="-122"/>
                <a:cs typeface="Arial" pitchFamily="34" charset="-120"/>
              </a:rPr>
              <a:t>The life of a ticket on chain</a:t>
            </a:r>
            <a:endParaRPr lang="en-US" sz="3600" dirty="0"/>
          </a:p>
        </p:txBody>
      </p:sp>
      <p:sp>
        <p:nvSpPr>
          <p:cNvPr id="4" name="Shape 2"/>
          <p:cNvSpPr/>
          <p:nvPr/>
        </p:nvSpPr>
        <p:spPr>
          <a:xfrm>
            <a:off x="815975" y="2276475"/>
            <a:ext cx="2254250" cy="2167890"/>
          </a:xfrm>
          <a:prstGeom prst="roundRect">
            <a:avLst>
              <a:gd name="adj" fmla="val 5712"/>
            </a:avLst>
          </a:prstGeom>
          <a:solidFill>
            <a:srgbClr val="1D2D50"/>
          </a:solidFill>
          <a:ln w="6350">
            <a:solidFill>
              <a:srgbClr val="33456E"/>
            </a:solidFill>
            <a:prstDash val="solid"/>
          </a:ln>
        </p:spPr>
      </p:sp>
      <p:sp>
        <p:nvSpPr>
          <p:cNvPr id="5" name="Text 3"/>
          <p:cNvSpPr/>
          <p:nvPr/>
        </p:nvSpPr>
        <p:spPr>
          <a:xfrm>
            <a:off x="1021080" y="2481582"/>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541"/>
                </a:solidFill>
                <a:latin typeface="Arial" pitchFamily="34" charset="0"/>
                <a:ea typeface="Arial" pitchFamily="34" charset="-122"/>
                <a:cs typeface="Arial" pitchFamily="34" charset="-120"/>
              </a:rPr>
              <a:t>01 · Buy</a:t>
            </a:r>
            <a:endParaRPr lang="en-US" sz="1200" dirty="0"/>
          </a:p>
        </p:txBody>
      </p:sp>
      <p:sp>
        <p:nvSpPr>
          <p:cNvPr id="6" name="Text 4"/>
          <p:cNvSpPr/>
          <p:nvPr/>
        </p:nvSpPr>
        <p:spPr>
          <a:xfrm>
            <a:off x="1021080" y="2796539"/>
            <a:ext cx="18993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49" charset="0"/>
                <a:ea typeface="Courier New" pitchFamily="49" charset="-122"/>
                <a:cs typeface="Courier New" pitchFamily="49" charset="-120"/>
              </a:rPr>
              <a:t>buy()</a:t>
            </a:r>
            <a:endParaRPr lang="en-US" sz="1600" dirty="0"/>
          </a:p>
        </p:txBody>
      </p:sp>
      <p:sp>
        <p:nvSpPr>
          <p:cNvPr id="7" name="Text 5"/>
          <p:cNvSpPr/>
          <p:nvPr/>
        </p:nvSpPr>
        <p:spPr>
          <a:xfrm>
            <a:off x="1021080" y="3182621"/>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Rider pays 1.30 EURC; the contract mints an ERC-721 ticket.</a:t>
            </a:r>
            <a:endParaRPr lang="en-US" sz="1200" dirty="0"/>
          </a:p>
        </p:txBody>
      </p:sp>
      <p:sp>
        <p:nvSpPr>
          <p:cNvPr id="8" name="Text 6"/>
          <p:cNvSpPr/>
          <p:nvPr/>
        </p:nvSpPr>
        <p:spPr>
          <a:xfrm>
            <a:off x="1021080" y="4025900"/>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D3E3"/>
                </a:solidFill>
                <a:latin typeface="Arial" pitchFamily="34" charset="0"/>
                <a:ea typeface="Arial" pitchFamily="34" charset="-122"/>
                <a:cs typeface="Arial" pitchFamily="34" charset="-120"/>
              </a:rPr>
              <a:t>→ UNUSED</a:t>
            </a:r>
            <a:endParaRPr lang="en-US" sz="1200" dirty="0"/>
          </a:p>
        </p:txBody>
      </p:sp>
      <p:pic>
        <p:nvPicPr>
          <p:cNvPr id="9" name="Image 0" descr="connector">    </p:cNvPr>
          <p:cNvPicPr>
            <a:picLocks noChangeAspect="1"/>
          </p:cNvPicPr>
          <p:nvPr/>
        </p:nvPicPr>
        <p:blipFill>
          <a:blip r:embed="rId1"/>
          <a:srcRect l="0" r="0" t="0" b="0"/>
          <a:stretch/>
        </p:blipFill>
        <p:spPr>
          <a:xfrm>
            <a:off x="3175000" y="3309621"/>
            <a:ext cx="304800" cy="101600"/>
          </a:xfrm>
          <a:prstGeom prst="rect">
            <a:avLst/>
          </a:prstGeom>
        </p:spPr>
      </p:pic>
      <p:sp>
        <p:nvSpPr>
          <p:cNvPr id="10" name="Shape 7"/>
          <p:cNvSpPr/>
          <p:nvPr/>
        </p:nvSpPr>
        <p:spPr>
          <a:xfrm>
            <a:off x="3584575" y="2276475"/>
            <a:ext cx="2254250" cy="2167890"/>
          </a:xfrm>
          <a:prstGeom prst="roundRect">
            <a:avLst>
              <a:gd name="adj" fmla="val 5712"/>
            </a:avLst>
          </a:prstGeom>
          <a:solidFill>
            <a:srgbClr val="1D2D50"/>
          </a:solidFill>
          <a:ln w="6350">
            <a:solidFill>
              <a:srgbClr val="33456E"/>
            </a:solidFill>
            <a:prstDash val="solid"/>
          </a:ln>
        </p:spPr>
      </p:sp>
      <p:sp>
        <p:nvSpPr>
          <p:cNvPr id="11" name="Text 8"/>
          <p:cNvSpPr/>
          <p:nvPr/>
        </p:nvSpPr>
        <p:spPr>
          <a:xfrm>
            <a:off x="3789680" y="2481582"/>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541"/>
                </a:solidFill>
                <a:latin typeface="Arial" pitchFamily="34" charset="0"/>
                <a:ea typeface="Arial" pitchFamily="34" charset="-122"/>
                <a:cs typeface="Arial" pitchFamily="34" charset="-120"/>
              </a:rPr>
              <a:t>02 · Validate</a:t>
            </a:r>
            <a:endParaRPr lang="en-US" sz="1200" dirty="0"/>
          </a:p>
        </p:txBody>
      </p:sp>
      <p:sp>
        <p:nvSpPr>
          <p:cNvPr id="12" name="Text 9"/>
          <p:cNvSpPr/>
          <p:nvPr/>
        </p:nvSpPr>
        <p:spPr>
          <a:xfrm>
            <a:off x="3789680" y="2796539"/>
            <a:ext cx="18993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49" charset="0"/>
                <a:ea typeface="Courier New" pitchFamily="49" charset="-122"/>
                <a:cs typeface="Courier New" pitchFamily="49" charset="-120"/>
              </a:rPr>
              <a:t>validate(id)</a:t>
            </a:r>
            <a:endParaRPr lang="en-US" sz="1600" dirty="0"/>
          </a:p>
        </p:txBody>
      </p:sp>
      <p:sp>
        <p:nvSpPr>
          <p:cNvPr id="13" name="Text 10"/>
          <p:cNvSpPr/>
          <p:nvPr/>
        </p:nvSpPr>
        <p:spPr>
          <a:xfrm>
            <a:off x="3789680" y="3182621"/>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On boarding. Stores the block timestamp, and works only once.</a:t>
            </a:r>
            <a:endParaRPr lang="en-US" sz="1200" dirty="0"/>
          </a:p>
        </p:txBody>
      </p:sp>
      <p:sp>
        <p:nvSpPr>
          <p:cNvPr id="14" name="Text 11"/>
          <p:cNvSpPr/>
          <p:nvPr/>
        </p:nvSpPr>
        <p:spPr>
          <a:xfrm>
            <a:off x="3789680" y="4025900"/>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541"/>
                </a:solidFill>
                <a:latin typeface="Arial" pitchFamily="34" charset="0"/>
                <a:ea typeface="Arial" pitchFamily="34" charset="-122"/>
                <a:cs typeface="Arial" pitchFamily="34" charset="-120"/>
              </a:rPr>
              <a:t>→ ACTIVE</a:t>
            </a:r>
            <a:endParaRPr lang="en-US" sz="1200" dirty="0"/>
          </a:p>
        </p:txBody>
      </p:sp>
      <p:pic>
        <p:nvPicPr>
          <p:cNvPr id="15" name="Image 1" descr="connector">    </p:cNvPr>
          <p:cNvPicPr>
            <a:picLocks noChangeAspect="1"/>
          </p:cNvPicPr>
          <p:nvPr/>
        </p:nvPicPr>
        <p:blipFill>
          <a:blip r:embed="rId2"/>
          <a:srcRect l="0" r="0" t="0" b="0"/>
          <a:stretch/>
        </p:blipFill>
        <p:spPr>
          <a:xfrm>
            <a:off x="5943600" y="3309621"/>
            <a:ext cx="304800" cy="101600"/>
          </a:xfrm>
          <a:prstGeom prst="rect">
            <a:avLst/>
          </a:prstGeom>
        </p:spPr>
      </p:pic>
      <p:sp>
        <p:nvSpPr>
          <p:cNvPr id="16" name="Shape 12"/>
          <p:cNvSpPr/>
          <p:nvPr/>
        </p:nvSpPr>
        <p:spPr>
          <a:xfrm>
            <a:off x="6353175" y="2276475"/>
            <a:ext cx="2254250" cy="2167890"/>
          </a:xfrm>
          <a:prstGeom prst="roundRect">
            <a:avLst>
              <a:gd name="adj" fmla="val 5712"/>
            </a:avLst>
          </a:prstGeom>
          <a:solidFill>
            <a:srgbClr val="1D2D50"/>
          </a:solidFill>
          <a:ln w="6350">
            <a:solidFill>
              <a:srgbClr val="33456E"/>
            </a:solidFill>
            <a:prstDash val="solid"/>
          </a:ln>
        </p:spPr>
      </p:sp>
      <p:sp>
        <p:nvSpPr>
          <p:cNvPr id="17" name="Text 13"/>
          <p:cNvSpPr/>
          <p:nvPr/>
        </p:nvSpPr>
        <p:spPr>
          <a:xfrm>
            <a:off x="6558280" y="2481582"/>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541"/>
                </a:solidFill>
                <a:latin typeface="Arial" pitchFamily="34" charset="0"/>
                <a:ea typeface="Arial" pitchFamily="34" charset="-122"/>
                <a:cs typeface="Arial" pitchFamily="34" charset="-120"/>
              </a:rPr>
              <a:t>03 · Ride</a:t>
            </a:r>
            <a:endParaRPr lang="en-US" sz="1200" dirty="0"/>
          </a:p>
        </p:txBody>
      </p:sp>
      <p:sp>
        <p:nvSpPr>
          <p:cNvPr id="18" name="Text 14"/>
          <p:cNvSpPr/>
          <p:nvPr/>
        </p:nvSpPr>
        <p:spPr>
          <a:xfrm>
            <a:off x="6558280" y="2796539"/>
            <a:ext cx="18993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49" charset="0"/>
                <a:ea typeface="Courier New" pitchFamily="49" charset="-122"/>
                <a:cs typeface="Courier New" pitchFamily="49" charset="-120"/>
              </a:rPr>
              <a:t>isValid(id)</a:t>
            </a:r>
            <a:endParaRPr lang="en-US" sz="1600" dirty="0"/>
          </a:p>
        </p:txBody>
      </p:sp>
      <p:sp>
        <p:nvSpPr>
          <p:cNvPr id="19" name="Text 15"/>
          <p:cNvSpPr/>
          <p:nvPr/>
        </p:nvSpPr>
        <p:spPr>
          <a:xfrm>
            <a:off x="6558280" y="3182621"/>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Returns true for 90 minutes. The ticket can no longer be transferred.</a:t>
            </a:r>
            <a:endParaRPr lang="en-US" sz="1200" dirty="0"/>
          </a:p>
        </p:txBody>
      </p:sp>
      <p:sp>
        <p:nvSpPr>
          <p:cNvPr id="20" name="Text 16"/>
          <p:cNvSpPr/>
          <p:nvPr/>
        </p:nvSpPr>
        <p:spPr>
          <a:xfrm>
            <a:off x="6558280" y="4025900"/>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541"/>
                </a:solidFill>
                <a:latin typeface="Arial" pitchFamily="34" charset="0"/>
                <a:ea typeface="Arial" pitchFamily="34" charset="-122"/>
                <a:cs typeface="Arial" pitchFamily="34" charset="-120"/>
              </a:rPr>
              <a:t>ACTIVE · 90 MIN</a:t>
            </a:r>
            <a:endParaRPr lang="en-US" sz="1200" dirty="0"/>
          </a:p>
        </p:txBody>
      </p:sp>
      <p:pic>
        <p:nvPicPr>
          <p:cNvPr id="21" name="Image 2" descr="connector">    </p:cNvPr>
          <p:cNvPicPr>
            <a:picLocks noChangeAspect="1"/>
          </p:cNvPicPr>
          <p:nvPr/>
        </p:nvPicPr>
        <p:blipFill>
          <a:blip r:embed="rId3"/>
          <a:srcRect l="0" r="0" t="0" b="0"/>
          <a:stretch/>
        </p:blipFill>
        <p:spPr>
          <a:xfrm>
            <a:off x="8712200" y="3309621"/>
            <a:ext cx="304800" cy="101600"/>
          </a:xfrm>
          <a:prstGeom prst="rect">
            <a:avLst/>
          </a:prstGeom>
        </p:spPr>
      </p:pic>
      <p:sp>
        <p:nvSpPr>
          <p:cNvPr id="22" name="Shape 17"/>
          <p:cNvSpPr/>
          <p:nvPr/>
        </p:nvSpPr>
        <p:spPr>
          <a:xfrm>
            <a:off x="9121775" y="2276475"/>
            <a:ext cx="2254250" cy="2167890"/>
          </a:xfrm>
          <a:prstGeom prst="roundRect">
            <a:avLst>
              <a:gd name="adj" fmla="val 5712"/>
            </a:avLst>
          </a:prstGeom>
          <a:solidFill>
            <a:srgbClr val="1D2D50"/>
          </a:solidFill>
          <a:ln w="6350">
            <a:solidFill>
              <a:srgbClr val="33456E"/>
            </a:solidFill>
            <a:prstDash val="solid"/>
          </a:ln>
        </p:spPr>
      </p:sp>
      <p:sp>
        <p:nvSpPr>
          <p:cNvPr id="23" name="Text 18"/>
          <p:cNvSpPr/>
          <p:nvPr/>
        </p:nvSpPr>
        <p:spPr>
          <a:xfrm>
            <a:off x="9326880" y="2481582"/>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541"/>
                </a:solidFill>
                <a:latin typeface="Arial" pitchFamily="34" charset="0"/>
                <a:ea typeface="Arial" pitchFamily="34" charset="-122"/>
                <a:cs typeface="Arial" pitchFamily="34" charset="-120"/>
              </a:rPr>
              <a:t>04 · Expire</a:t>
            </a:r>
            <a:endParaRPr lang="en-US" sz="1200" dirty="0"/>
          </a:p>
        </p:txBody>
      </p:sp>
      <p:sp>
        <p:nvSpPr>
          <p:cNvPr id="24" name="Text 19"/>
          <p:cNvSpPr/>
          <p:nvPr/>
        </p:nvSpPr>
        <p:spPr>
          <a:xfrm>
            <a:off x="9326880" y="2796539"/>
            <a:ext cx="18993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49" charset="0"/>
                <a:ea typeface="Courier New" pitchFamily="49" charset="-122"/>
                <a:cs typeface="Courier New" pitchFamily="49" charset="-120"/>
              </a:rPr>
              <a:t>status(id)</a:t>
            </a:r>
            <a:endParaRPr lang="en-US" sz="1600" dirty="0"/>
          </a:p>
        </p:txBody>
      </p:sp>
      <p:sp>
        <p:nvSpPr>
          <p:cNvPr id="25" name="Text 20"/>
          <p:cNvSpPr/>
          <p:nvPr/>
        </p:nvSpPr>
        <p:spPr>
          <a:xfrm>
            <a:off x="9326880" y="3182621"/>
            <a:ext cx="18993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After 90 minutes the ticket expires and can never be validated again.</a:t>
            </a:r>
            <a:endParaRPr lang="en-US" sz="1200" dirty="0"/>
          </a:p>
        </p:txBody>
      </p:sp>
      <p:sp>
        <p:nvSpPr>
          <p:cNvPr id="26" name="Text 21"/>
          <p:cNvSpPr/>
          <p:nvPr/>
        </p:nvSpPr>
        <p:spPr>
          <a:xfrm>
            <a:off x="9326880" y="4025900"/>
            <a:ext cx="18993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D3E3"/>
                </a:solidFill>
                <a:latin typeface="Arial" pitchFamily="34" charset="0"/>
                <a:ea typeface="Arial" pitchFamily="34" charset="-122"/>
                <a:cs typeface="Arial" pitchFamily="34" charset="-120"/>
              </a:rPr>
              <a:t>→ EXPIRED</a:t>
            </a:r>
            <a:endParaRPr lang="en-US" sz="1200" dirty="0"/>
          </a:p>
        </p:txBody>
      </p:sp>
      <p:sp>
        <p:nvSpPr>
          <p:cNvPr id="27" name="Shape 22"/>
          <p:cNvSpPr/>
          <p:nvPr/>
        </p:nvSpPr>
        <p:spPr>
          <a:xfrm>
            <a:off x="812800" y="5090161"/>
            <a:ext cx="10566400" cy="955040"/>
          </a:xfrm>
          <a:prstGeom prst="roundRect">
            <a:avLst>
              <a:gd name="adj" fmla="val 13298"/>
            </a:avLst>
          </a:prstGeom>
          <a:solidFill>
            <a:srgbClr val="F6F4EE"/>
          </a:solidFill>
          <a:ln/>
        </p:spPr>
      </p:sp>
      <p:pic>
        <p:nvPicPr>
          <p:cNvPr id="28" name="Image 3" descr="Verified">    </p:cNvPr>
          <p:cNvPicPr>
            <a:picLocks noChangeAspect="1"/>
          </p:cNvPicPr>
          <p:nvPr/>
        </p:nvPicPr>
        <p:blipFill>
          <a:blip r:embed="rId4"/>
          <a:srcRect l="0" r="0" t="0" b="0"/>
          <a:stretch/>
        </p:blipFill>
        <p:spPr>
          <a:xfrm>
            <a:off x="1066800" y="5389882"/>
            <a:ext cx="355600" cy="355600"/>
          </a:xfrm>
          <a:prstGeom prst="rect">
            <a:avLst/>
          </a:prstGeom>
        </p:spPr>
      </p:pic>
      <p:sp>
        <p:nvSpPr>
          <p:cNvPr id="29" name="Text 23"/>
          <p:cNvSpPr/>
          <p:nvPr/>
        </p:nvSpPr>
        <p:spPr>
          <a:xfrm>
            <a:off x="1625600" y="5293361"/>
            <a:ext cx="978458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Courier New" pitchFamily="49" charset="0"/>
                <a:ea typeface="Courier New" pitchFamily="49" charset="-122"/>
                <a:cs typeface="Courier New" pitchFamily="49" charset="-120"/>
              </a:rPr>
              <a:t>isValid(id) &amp;&amp; ownerOf(id) == rider</a:t>
            </a:r>
            <a:endParaRPr lang="en-US" sz="1600" dirty="0"/>
          </a:p>
        </p:txBody>
      </p:sp>
      <p:sp>
        <p:nvSpPr>
          <p:cNvPr id="30" name="Text 24"/>
          <p:cNvSpPr/>
          <p:nvPr/>
        </p:nvSpPr>
        <p:spPr>
          <a:xfrm>
            <a:off x="1625600" y="5628639"/>
            <a:ext cx="97845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The conductor’s check: view calls only, so no wallet and no gas.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ARCHITECTURE</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Who talks to the contract</a:t>
            </a:r>
            <a:endParaRPr lang="en-US" sz="3600" dirty="0"/>
          </a:p>
        </p:txBody>
      </p:sp>
      <p:pic>
        <p:nvPicPr>
          <p:cNvPr id="4" name="Image 0" descr="connector">    </p:cNvPr>
          <p:cNvPicPr>
            <a:picLocks noChangeAspect="1"/>
          </p:cNvPicPr>
          <p:nvPr/>
        </p:nvPicPr>
        <p:blipFill>
          <a:blip r:embed="rId1"/>
          <a:srcRect l="0" r="0" t="0" b="0"/>
          <a:stretch/>
        </p:blipFill>
        <p:spPr>
          <a:xfrm>
            <a:off x="3429000" y="2679700"/>
            <a:ext cx="1447800" cy="546100"/>
          </a:xfrm>
          <a:prstGeom prst="rect">
            <a:avLst/>
          </a:prstGeom>
        </p:spPr>
      </p:pic>
      <p:pic>
        <p:nvPicPr>
          <p:cNvPr id="5" name="Image 1" descr="connector">    </p:cNvPr>
          <p:cNvPicPr>
            <a:picLocks noChangeAspect="1"/>
          </p:cNvPicPr>
          <p:nvPr/>
        </p:nvPicPr>
        <p:blipFill>
          <a:blip r:embed="rId2"/>
          <a:srcRect l="0" r="0" t="0" b="0"/>
          <a:stretch/>
        </p:blipFill>
        <p:spPr>
          <a:xfrm>
            <a:off x="3429000" y="4267200"/>
            <a:ext cx="1447800" cy="482600"/>
          </a:xfrm>
          <a:prstGeom prst="rect">
            <a:avLst/>
          </a:prstGeom>
        </p:spPr>
      </p:pic>
      <p:pic>
        <p:nvPicPr>
          <p:cNvPr id="6" name="Image 2" descr="connector">    </p:cNvPr>
          <p:cNvPicPr>
            <a:picLocks noChangeAspect="1"/>
          </p:cNvPicPr>
          <p:nvPr/>
        </p:nvPicPr>
        <p:blipFill>
          <a:blip r:embed="rId3"/>
          <a:srcRect l="0" r="0" t="0" b="0"/>
          <a:stretch/>
        </p:blipFill>
        <p:spPr>
          <a:xfrm>
            <a:off x="7569200" y="2679700"/>
            <a:ext cx="1193800" cy="546100"/>
          </a:xfrm>
          <a:prstGeom prst="rect">
            <a:avLst/>
          </a:prstGeom>
        </p:spPr>
      </p:pic>
      <p:pic>
        <p:nvPicPr>
          <p:cNvPr id="7" name="Image 3" descr="connector">    </p:cNvPr>
          <p:cNvPicPr>
            <a:picLocks noChangeAspect="1"/>
          </p:cNvPicPr>
          <p:nvPr/>
        </p:nvPicPr>
        <p:blipFill>
          <a:blip r:embed="rId4"/>
          <a:srcRect l="0" r="0" t="0" b="0"/>
          <a:stretch/>
        </p:blipFill>
        <p:spPr>
          <a:xfrm>
            <a:off x="7569200" y="4267200"/>
            <a:ext cx="1193800" cy="482600"/>
          </a:xfrm>
          <a:prstGeom prst="rect">
            <a:avLst/>
          </a:prstGeom>
        </p:spPr>
      </p:pic>
      <p:sp>
        <p:nvSpPr>
          <p:cNvPr id="8" name="Shape 2"/>
          <p:cNvSpPr/>
          <p:nvPr/>
        </p:nvSpPr>
        <p:spPr>
          <a:xfrm>
            <a:off x="815975" y="2098675"/>
            <a:ext cx="2660650" cy="1248410"/>
          </a:xfrm>
          <a:prstGeom prst="roundRect">
            <a:avLst>
              <a:gd name="adj" fmla="val 9919"/>
            </a:avLst>
          </a:prstGeom>
          <a:solidFill>
            <a:srgbClr val="FBFAF6"/>
          </a:solidFill>
          <a:ln w="6350">
            <a:solidFill>
              <a:srgbClr val="E2DDCF"/>
            </a:solidFill>
            <a:prstDash val="solid"/>
          </a:ln>
        </p:spPr>
      </p:sp>
      <p:sp>
        <p:nvSpPr>
          <p:cNvPr id="9" name="Text 3"/>
          <p:cNvSpPr/>
          <p:nvPr/>
        </p:nvSpPr>
        <p:spPr>
          <a:xfrm>
            <a:off x="1021080" y="2303782"/>
            <a:ext cx="231795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Rider app</a:t>
            </a:r>
            <a:endParaRPr lang="en-US" sz="2200" dirty="0"/>
          </a:p>
        </p:txBody>
      </p:sp>
      <p:sp>
        <p:nvSpPr>
          <p:cNvPr id="10" name="Text 4"/>
          <p:cNvSpPr/>
          <p:nvPr/>
        </p:nvSpPr>
        <p:spPr>
          <a:xfrm>
            <a:off x="1021080" y="2715261"/>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Browser + MetaMask wallet: buys and validates tickets</a:t>
            </a:r>
            <a:endParaRPr lang="en-US" sz="1200" dirty="0"/>
          </a:p>
        </p:txBody>
      </p:sp>
      <p:sp>
        <p:nvSpPr>
          <p:cNvPr id="11" name="Shape 5"/>
          <p:cNvSpPr/>
          <p:nvPr/>
        </p:nvSpPr>
        <p:spPr>
          <a:xfrm>
            <a:off x="815975" y="4067175"/>
            <a:ext cx="2660650" cy="1461770"/>
          </a:xfrm>
          <a:prstGeom prst="roundRect">
            <a:avLst>
              <a:gd name="adj" fmla="val 8471"/>
            </a:avLst>
          </a:prstGeom>
          <a:solidFill>
            <a:srgbClr val="FBFAF6"/>
          </a:solidFill>
          <a:ln w="6350">
            <a:solidFill>
              <a:srgbClr val="E2DDCF"/>
            </a:solidFill>
            <a:prstDash val="solid"/>
          </a:ln>
        </p:spPr>
      </p:sp>
      <p:sp>
        <p:nvSpPr>
          <p:cNvPr id="12" name="Text 6"/>
          <p:cNvSpPr/>
          <p:nvPr/>
        </p:nvSpPr>
        <p:spPr>
          <a:xfrm>
            <a:off x="1021080" y="4272282"/>
            <a:ext cx="231795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Conductor view</a:t>
            </a:r>
            <a:endParaRPr lang="en-US" sz="2200" dirty="0"/>
          </a:p>
        </p:txBody>
      </p:sp>
      <p:sp>
        <p:nvSpPr>
          <p:cNvPr id="13" name="Text 7"/>
          <p:cNvSpPr/>
          <p:nvPr/>
        </p:nvSpPr>
        <p:spPr>
          <a:xfrm>
            <a:off x="1021080" y="4683761"/>
            <a:ext cx="23179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No wallet needed: checks a ticket ID against the rider’s address</a:t>
            </a:r>
            <a:endParaRPr lang="en-US" sz="1200" dirty="0"/>
          </a:p>
        </p:txBody>
      </p:sp>
      <p:sp>
        <p:nvSpPr>
          <p:cNvPr id="14" name="Shape 8"/>
          <p:cNvSpPr/>
          <p:nvPr/>
        </p:nvSpPr>
        <p:spPr>
          <a:xfrm>
            <a:off x="4826000" y="2413000"/>
            <a:ext cx="2794000" cy="2540000"/>
          </a:xfrm>
          <a:prstGeom prst="roundRect">
            <a:avLst>
              <a:gd name="adj" fmla="val 5000"/>
            </a:avLst>
          </a:prstGeom>
          <a:solidFill>
            <a:srgbClr val="14213D"/>
          </a:solidFill>
          <a:ln/>
        </p:spPr>
      </p:sp>
      <p:sp>
        <p:nvSpPr>
          <p:cNvPr id="15" name="Text 9"/>
          <p:cNvSpPr/>
          <p:nvPr/>
        </p:nvSpPr>
        <p:spPr>
          <a:xfrm>
            <a:off x="5080000" y="2667000"/>
            <a:ext cx="2354580" cy="227013"/>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F2A541"/>
                </a:solidFill>
                <a:latin typeface="Arial" pitchFamily="34" charset="0"/>
                <a:ea typeface="Arial" pitchFamily="34" charset="-122"/>
                <a:cs typeface="Arial" pitchFamily="34" charset="-120"/>
              </a:rPr>
              <a:t>SMART CONTRACT</a:t>
            </a:r>
            <a:endParaRPr lang="en-US" sz="1159" dirty="0"/>
          </a:p>
        </p:txBody>
      </p:sp>
      <p:sp>
        <p:nvSpPr>
          <p:cNvPr id="16" name="Text 10"/>
          <p:cNvSpPr/>
          <p:nvPr/>
        </p:nvSpPr>
        <p:spPr>
          <a:xfrm>
            <a:off x="5080000" y="2970213"/>
            <a:ext cx="2354580" cy="342186"/>
          </a:xfrm>
          <a:prstGeom prst="rect">
            <a:avLst/>
          </a:prstGeom>
          <a:noFill/>
          <a:ln/>
        </p:spPr>
        <p:txBody>
          <a:bodyPr wrap="square" lIns="0" tIns="0" rIns="0" bIns="0" rtlCol="0" anchor="t">
            <a:normAutofit/>
          </a:bodyPr>
          <a:lstStyle/>
          <a:p>
            <a:pPr algn="l" indent="0" marL="0">
              <a:lnSpc>
                <a:spcPts val="2524"/>
              </a:lnSpc>
              <a:buNone/>
            </a:pPr>
            <a:r>
              <a:rPr lang="en-US" sz="2104" b="1" dirty="0">
                <a:solidFill>
                  <a:srgbClr val="F6F4EE"/>
                </a:solidFill>
                <a:latin typeface="Courier New" pitchFamily="49" charset="0"/>
                <a:ea typeface="Courier New" pitchFamily="49" charset="-122"/>
                <a:cs typeface="Courier New" pitchFamily="49" charset="-120"/>
              </a:rPr>
              <a:t>BusTicket</a:t>
            </a:r>
            <a:endParaRPr lang="en-US" sz="2104" dirty="0"/>
          </a:p>
        </p:txBody>
      </p:sp>
      <p:sp>
        <p:nvSpPr>
          <p:cNvPr id="17" name="Text 11"/>
          <p:cNvSpPr/>
          <p:nvPr/>
        </p:nvSpPr>
        <p:spPr>
          <a:xfrm>
            <a:off x="5080000" y="3388599"/>
            <a:ext cx="2354580" cy="428625"/>
          </a:xfrm>
          <a:prstGeom prst="rect">
            <a:avLst/>
          </a:prstGeom>
          <a:noFill/>
          <a:ln/>
        </p:spPr>
        <p:txBody>
          <a:bodyPr wrap="square" lIns="0" tIns="0" rIns="0" bIns="0" rtlCol="0" anchor="t">
            <a:normAutofit/>
          </a:bodyPr>
          <a:lstStyle/>
          <a:p>
            <a:pPr algn="l" indent="0" marL="0">
              <a:lnSpc>
                <a:spcPts val="1612"/>
              </a:lnSpc>
              <a:buNone/>
            </a:pPr>
            <a:r>
              <a:rPr lang="en-US" sz="1151" dirty="0">
                <a:solidFill>
                  <a:srgbClr val="C9D3E3"/>
                </a:solidFill>
                <a:latin typeface="Arial" pitchFamily="34" charset="0"/>
                <a:ea typeface="Arial" pitchFamily="34" charset="-122"/>
                <a:cs typeface="Arial" pitchFamily="34" charset="-120"/>
              </a:rPr>
              <a:t>ERC-721 + Ownable (OpenZeppelin)</a:t>
            </a:r>
            <a:endParaRPr lang="en-US" sz="1151" dirty="0"/>
          </a:p>
        </p:txBody>
      </p:sp>
      <p:pic>
        <p:nvPicPr>
          <p:cNvPr id="18" name="Image 4" descr="line">    </p:cNvPr>
          <p:cNvPicPr>
            <a:picLocks noChangeAspect="1"/>
          </p:cNvPicPr>
          <p:nvPr/>
        </p:nvPicPr>
        <p:blipFill>
          <a:blip r:embed="rId5"/>
          <a:srcRect l="0" r="0" t="0" b="0"/>
          <a:stretch/>
        </p:blipFill>
        <p:spPr>
          <a:xfrm>
            <a:off x="5080000" y="3893424"/>
            <a:ext cx="2286000" cy="12700"/>
          </a:xfrm>
          <a:prstGeom prst="rect">
            <a:avLst/>
          </a:prstGeom>
        </p:spPr>
      </p:pic>
      <p:sp>
        <p:nvSpPr>
          <p:cNvPr id="19" name="Text 12"/>
          <p:cNvSpPr/>
          <p:nvPr/>
        </p:nvSpPr>
        <p:spPr>
          <a:xfrm>
            <a:off x="5080000" y="4007724"/>
            <a:ext cx="2354580" cy="716677"/>
          </a:xfrm>
          <a:prstGeom prst="rect">
            <a:avLst/>
          </a:prstGeom>
          <a:noFill/>
          <a:ln/>
        </p:spPr>
        <p:txBody>
          <a:bodyPr wrap="square" lIns="0" tIns="0" rIns="0" bIns="0" rtlCol="0" anchor="t">
            <a:normAutofit/>
          </a:bodyPr>
          <a:lstStyle/>
          <a:p>
            <a:pPr algn="l" indent="0" marL="0">
              <a:lnSpc>
                <a:spcPts val="1824"/>
              </a:lnSpc>
              <a:buNone/>
            </a:pPr>
            <a:r>
              <a:rPr lang="en-US" sz="1140" dirty="0">
                <a:solidFill>
                  <a:srgbClr val="F6F4EE"/>
                </a:solidFill>
                <a:latin typeface="Courier New" pitchFamily="49" charset="0"/>
                <a:ea typeface="Courier New" pitchFamily="49" charset="-122"/>
                <a:cs typeface="Courier New" pitchFamily="49" charset="-120"/>
              </a:rPr>
              <a:t>price = 1.30 EURC</a:t>
            </a:r>
            <a:endParaRPr lang="en-US" sz="1140" dirty="0"/>
          </a:p>
          <a:p>
            <a:pPr algn="l" indent="0" marL="0">
              <a:lnSpc>
                <a:spcPts val="1824"/>
              </a:lnSpc>
              <a:buNone/>
            </a:pPr>
            <a:r>
              <a:rPr lang="en-US" sz="1140" dirty="0">
                <a:solidFill>
                  <a:srgbClr val="F6F4EE"/>
                </a:solidFill>
                <a:latin typeface="Courier New" pitchFamily="49" charset="0"/>
                <a:ea typeface="Courier New" pitchFamily="49" charset="-122"/>
                <a:cs typeface="Courier New" pitchFamily="49" charset="-120"/>
              </a:rPr>
              <a:t>DURATION = 90 min</a:t>
            </a:r>
            <a:endParaRPr lang="en-US" sz="1140" dirty="0"/>
          </a:p>
          <a:p>
            <a:pPr algn="l" indent="0" marL="0">
              <a:lnSpc>
                <a:spcPts val="1824"/>
              </a:lnSpc>
              <a:buNone/>
            </a:pPr>
            <a:r>
              <a:rPr lang="en-US" sz="1140" dirty="0">
                <a:solidFill>
                  <a:srgbClr val="F6F4EE"/>
                </a:solidFill>
                <a:latin typeface="Courier New" pitchFamily="49" charset="0"/>
                <a:ea typeface="Courier New" pitchFamily="49" charset="-122"/>
                <a:cs typeface="Courier New" pitchFamily="49" charset="-120"/>
              </a:rPr>
              <a:t>validatedAt[id]</a:t>
            </a:r>
            <a:endParaRPr lang="en-US" sz="1140" dirty="0"/>
          </a:p>
        </p:txBody>
      </p:sp>
      <p:sp>
        <p:nvSpPr>
          <p:cNvPr id="20" name="Shape 13"/>
          <p:cNvSpPr/>
          <p:nvPr/>
        </p:nvSpPr>
        <p:spPr>
          <a:xfrm>
            <a:off x="8715375" y="2098675"/>
            <a:ext cx="2660650" cy="1248410"/>
          </a:xfrm>
          <a:prstGeom prst="roundRect">
            <a:avLst>
              <a:gd name="adj" fmla="val 9919"/>
            </a:avLst>
          </a:prstGeom>
          <a:solidFill>
            <a:srgbClr val="FBFAF6"/>
          </a:solidFill>
          <a:ln w="6350">
            <a:solidFill>
              <a:srgbClr val="E2DDCF"/>
            </a:solidFill>
            <a:prstDash val="solid"/>
          </a:ln>
        </p:spPr>
      </p:sp>
      <p:sp>
        <p:nvSpPr>
          <p:cNvPr id="21" name="Text 14"/>
          <p:cNvSpPr/>
          <p:nvPr/>
        </p:nvSpPr>
        <p:spPr>
          <a:xfrm>
            <a:off x="8920480" y="2303782"/>
            <a:ext cx="231795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Euro stablecoin</a:t>
            </a:r>
            <a:endParaRPr lang="en-US" sz="2200" dirty="0"/>
          </a:p>
        </p:txBody>
      </p:sp>
      <p:sp>
        <p:nvSpPr>
          <p:cNvPr id="22" name="Text 15"/>
          <p:cNvSpPr/>
          <p:nvPr/>
        </p:nvSpPr>
        <p:spPr>
          <a:xfrm>
            <a:off x="8920480" y="2715261"/>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ERC-20 with 6 decimals; MockEURC stands in for EURC</a:t>
            </a:r>
            <a:endParaRPr lang="en-US" sz="1200" dirty="0"/>
          </a:p>
        </p:txBody>
      </p:sp>
      <p:sp>
        <p:nvSpPr>
          <p:cNvPr id="23" name="Shape 16"/>
          <p:cNvSpPr/>
          <p:nvPr/>
        </p:nvSpPr>
        <p:spPr>
          <a:xfrm>
            <a:off x="8715375" y="4067175"/>
            <a:ext cx="2660650" cy="1248410"/>
          </a:xfrm>
          <a:prstGeom prst="roundRect">
            <a:avLst>
              <a:gd name="adj" fmla="val 9919"/>
            </a:avLst>
          </a:prstGeom>
          <a:solidFill>
            <a:srgbClr val="FBFAF6"/>
          </a:solidFill>
          <a:ln w="6350">
            <a:solidFill>
              <a:srgbClr val="E2DDCF"/>
            </a:solidFill>
            <a:prstDash val="solid"/>
          </a:ln>
        </p:spPr>
      </p:sp>
      <p:sp>
        <p:nvSpPr>
          <p:cNvPr id="24" name="Text 17"/>
          <p:cNvSpPr/>
          <p:nvPr/>
        </p:nvSpPr>
        <p:spPr>
          <a:xfrm>
            <a:off x="8920480" y="4272282"/>
            <a:ext cx="231795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Operator</a:t>
            </a:r>
            <a:endParaRPr lang="en-US" sz="2200" dirty="0"/>
          </a:p>
        </p:txBody>
      </p:sp>
      <p:sp>
        <p:nvSpPr>
          <p:cNvPr id="25" name="Text 18"/>
          <p:cNvSpPr/>
          <p:nvPr/>
        </p:nvSpPr>
        <p:spPr>
          <a:xfrm>
            <a:off x="8920480" y="4683761"/>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Contract owner: collects revenue with withdraw()</a:t>
            </a:r>
            <a:endParaRPr lang="en-US" sz="1200" dirty="0"/>
          </a:p>
        </p:txBody>
      </p:sp>
      <p:sp>
        <p:nvSpPr>
          <p:cNvPr id="26" name="Text 19"/>
          <p:cNvSpPr/>
          <p:nvPr/>
        </p:nvSpPr>
        <p:spPr>
          <a:xfrm>
            <a:off x="3454400" y="2387600"/>
            <a:ext cx="1397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transactions</a:t>
            </a:r>
            <a:endParaRPr lang="en-US" sz="1200" dirty="0"/>
          </a:p>
        </p:txBody>
      </p:sp>
      <p:sp>
        <p:nvSpPr>
          <p:cNvPr id="27" name="Text 20"/>
          <p:cNvSpPr/>
          <p:nvPr/>
        </p:nvSpPr>
        <p:spPr>
          <a:xfrm>
            <a:off x="3454400" y="4800600"/>
            <a:ext cx="1397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view calls</a:t>
            </a:r>
            <a:endParaRPr lang="en-US" sz="1200" dirty="0"/>
          </a:p>
        </p:txBody>
      </p:sp>
      <p:sp>
        <p:nvSpPr>
          <p:cNvPr id="28" name="Text 21"/>
          <p:cNvSpPr/>
          <p:nvPr/>
        </p:nvSpPr>
        <p:spPr>
          <a:xfrm>
            <a:off x="7594600" y="2387600"/>
            <a:ext cx="1143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payment</a:t>
            </a:r>
            <a:endParaRPr lang="en-US" sz="1200" dirty="0"/>
          </a:p>
        </p:txBody>
      </p:sp>
      <p:sp>
        <p:nvSpPr>
          <p:cNvPr id="29" name="Text 22"/>
          <p:cNvSpPr/>
          <p:nvPr/>
        </p:nvSpPr>
        <p:spPr>
          <a:xfrm>
            <a:off x="7594600" y="4800600"/>
            <a:ext cx="1143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revenue</a:t>
            </a:r>
            <a:endParaRPr lang="en-US" sz="1200" dirty="0"/>
          </a:p>
        </p:txBody>
      </p:sp>
      <p:sp>
        <p:nvSpPr>
          <p:cNvPr id="30" name="Text 2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Built with Hardhat 3 · Solidity · OpenZeppelin · ethers.js + Vite + TypeScript frontend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INTEGRITY</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E"/>
                </a:solidFill>
                <a:latin typeface="Arial" pitchFamily="34" charset="0"/>
                <a:ea typeface="Arial" pitchFamily="34" charset="-122"/>
                <a:cs typeface="Arial" pitchFamily="34" charset="-120"/>
              </a:rPr>
              <a:t>Every attack meets a rule in the contract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6240" cy="2684780"/>
        </p:xfrm>
        <a:graphic>
          <a:graphicData uri="http://schemas.openxmlformats.org/drawingml/2006/table">
            <a:tbl>
              <a:tblPr/>
              <a:tblGrid>
                <a:gridCol w="2955747"/>
                <a:gridCol w="4222496"/>
                <a:gridCol w="3377997"/>
              </a:tblGrid>
              <a:tr h="383540">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Attempt</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F4B769"/>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F4B769"/>
                      </a:solidFill>
                      <a:prstDash val="solid"/>
                      <a:round/>
                      <a:headEnd type="none" w="med" len="med"/>
                      <a:tailEnd type="none" w="med" len="med"/>
                    </a:lnB>
                    <a:solidFill>
                      <a:srgbClr val="F2A541"/>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Rule in BusTicket</a:t>
                      </a:r>
                      <a:endParaRPr lang="en-US" sz="1400" dirty="0">
                        <a:latin typeface="Arial" charset="0"/>
                        <a:ea typeface="Arial" charset="0"/>
                        <a:cs typeface="Arial" charset="0"/>
                      </a:endParaRPr>
                    </a:p>
                  </a:txBody>
                  <a:tcPr marL="62230" marR="62230" marT="62230" marB="62230" anchor="t">
                    <a:lnL w="12700" cap="flat" cmpd="sng" algn="ctr">
                      <a:solidFill>
                        <a:srgbClr val="F4B769"/>
                      </a:solidFill>
                      <a:prstDash val="solid"/>
                      <a:round/>
                      <a:headEnd type="none" w="med" len="med"/>
                      <a:tailEnd type="none" w="med" len="med"/>
                    </a:lnL>
                    <a:lnR w="12700" cap="flat" cmpd="sng" algn="ctr">
                      <a:solidFill>
                        <a:srgbClr val="F4B769"/>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F4B769"/>
                      </a:solidFill>
                      <a:prstDash val="solid"/>
                      <a:round/>
                      <a:headEnd type="none" w="med" len="med"/>
                      <a:tailEnd type="none" w="med" len="med"/>
                    </a:lnB>
                    <a:solidFill>
                      <a:srgbClr val="F2A541"/>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Result</a:t>
                      </a:r>
                      <a:endParaRPr lang="en-US" sz="1400" dirty="0">
                        <a:latin typeface="Arial" charset="0"/>
                        <a:ea typeface="Arial" charset="0"/>
                        <a:cs typeface="Arial" charset="0"/>
                      </a:endParaRPr>
                    </a:p>
                  </a:txBody>
                  <a:tcPr marL="62230" marR="62230" marT="62230" marB="62230" anchor="t">
                    <a:lnL w="12700" cap="flat" cmpd="sng" algn="ctr">
                      <a:solidFill>
                        <a:srgbClr val="F4B769"/>
                      </a:solidFill>
                      <a:prstDash val="solid"/>
                      <a:round/>
                      <a:headEnd type="none" w="med" len="med"/>
                      <a:tailEnd type="none" w="med" len="med"/>
                    </a:lnL>
                    <a:lnR w="12700" cap="flat" cmpd="sng" algn="ctr">
                      <a:solidFill>
                        <a:srgbClr val="F4B769"/>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F4B769"/>
                      </a:solidFill>
                      <a:prstDash val="solid"/>
                      <a:round/>
                      <a:headEnd type="none" w="med" len="med"/>
                      <a:tailEnd type="none" w="med" len="med"/>
                    </a:lnB>
                    <a:solidFill>
                      <a:srgbClr val="F2A541"/>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Reuse a ticket</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F4B769"/>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validatedAt[id] ≠ 0 → AlreadyValidated</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F4B769"/>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One validation per ticket, ever</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F4B769"/>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Use someone else’s ticket</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ownerOf(id) ≠ sender → NotTicketOwner</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Only the holder can validate</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Hand an active ticket on</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_update hook → TransferAfterValidation</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Validated tickets stay with the rider</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Forge or edit a ticket</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State lives only on chain, readable by all</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A copy can’t pass isValid()</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Ride without paying</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safeTransferFrom before _mint (SafeERC20)</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No payment, no ticket</a:t>
                      </a:r>
                      <a:endParaRPr lang="en-US" sz="1400" dirty="0">
                        <a:latin typeface="Arial" charset="0"/>
                        <a:ea typeface="Arial" charset="0"/>
                        <a:cs typeface="Arial" charset="0"/>
                      </a:endParaRPr>
                    </a:p>
                  </a:txBody>
                  <a:tcPr marL="62230" marR="62230" marT="62230" marB="62230" anchor="t">
                    <a:lnL w="12700" cap="flat" cmpd="sng" algn="ctr">
                      <a:solidFill>
                        <a:srgbClr val="4E5A74"/>
                      </a:solidFill>
                      <a:prstDash val="solid"/>
                      <a:round/>
                      <a:headEnd type="none" w="med" len="med"/>
                      <a:tailEnd type="none" w="med" len="med"/>
                    </a:lnL>
                    <a:lnR w="12700" cap="flat" cmpd="sng" algn="ctr">
                      <a:solidFill>
                        <a:srgbClr val="4E5A74"/>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E5A74"/>
                      </a:solidFill>
                      <a:prstDash val="solid"/>
                      <a:round/>
                      <a:headEnd type="none" w="med" len="med"/>
                      <a:tailEnd type="none" w="med" len="med"/>
                    </a:lnB>
                    <a:solidFill>
                      <a:srgbClr val="1D2D50"/>
                    </a:solidFill>
                  </a:tcPr>
                </a:tc>
              </a:tr>
              <a:tr h="383540">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Take the revenue</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withdraw() is onlyOwner</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c>
                  <a:txBody>
                    <a:bodyPr/>
                    <a:lstStyle/>
                    <a:p>
                      <a:pPr indent="0" marL="0">
                        <a:lnSpc>
                          <a:spcPts val="1960"/>
                        </a:lnSpc>
                        <a:buNone/>
                      </a:pPr>
                      <a:r>
                        <a:rPr lang="en-US" sz="1400" dirty="0">
                          <a:solidFill>
                            <a:srgbClr val="F6F4EE"/>
                          </a:solidFill>
                          <a:latin typeface="Arial" pitchFamily="34" charset="0"/>
                          <a:ea typeface="Arial" pitchFamily="34" charset="-122"/>
                          <a:cs typeface="Arial" pitchFamily="34" charset="-120"/>
                        </a:rPr>
                        <a:t>Only the operator collects</a:t>
                      </a:r>
                      <a:endParaRPr lang="en-US" sz="1400" dirty="0">
                        <a:latin typeface="Arial" charset="0"/>
                        <a:ea typeface="Arial" charset="0"/>
                        <a:cs typeface="Arial" charset="0"/>
                      </a:endParaRPr>
                    </a:p>
                  </a:txBody>
                  <a:tcPr marL="62230" marR="62230" marT="62230" marB="6223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E5A74"/>
                      </a:solidFill>
                      <a:prstDash val="solid"/>
                      <a:round/>
                      <a:headEnd type="none" w="med" len="med"/>
                      <a:tailEnd type="none" w="med" len="med"/>
                    </a:lnT>
                    <a:lnB w="12700" cap="flat" cmpd="sng" algn="ctr">
                      <a:solidFill>
                        <a:srgbClr val="475165"/>
                      </a:solidFill>
                      <a:prstDash val="solid"/>
                      <a:round/>
                      <a:headEnd type="none" w="med" len="med"/>
                      <a:tailEnd type="none" w="med" len="med"/>
                    </a:lnB>
                    <a:solidFill>
                      <a:srgbClr val="14213D"/>
                    </a:solidFill>
                  </a:tcPr>
                </a:tc>
              </a:tr>
            </a:tbl>
          </a:graphicData>
        </a:graphic>
      </p:graphicFrame>
      <p:sp>
        <p:nvSpPr>
          <p:cNvPr id="5" name="Text 2"/>
          <p:cNvSpPr/>
          <p:nvPr/>
        </p:nvSpPr>
        <p:spPr>
          <a:xfrm>
            <a:off x="812800" y="49352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These rules are exercised by the 14 Solidity unit tests in BusTicket.t.sol.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DATA MINIMISATION</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What the chain knows about a rider</a:t>
            </a:r>
            <a:endParaRPr lang="en-US" sz="3600" dirty="0"/>
          </a:p>
        </p:txBody>
      </p:sp>
      <p:sp>
        <p:nvSpPr>
          <p:cNvPr id="4" name="Shape 2"/>
          <p:cNvSpPr/>
          <p:nvPr/>
        </p:nvSpPr>
        <p:spPr>
          <a:xfrm>
            <a:off x="815975" y="2637157"/>
            <a:ext cx="5175250" cy="2015490"/>
          </a:xfrm>
          <a:prstGeom prst="roundRect">
            <a:avLst>
              <a:gd name="adj" fmla="val 6144"/>
            </a:avLst>
          </a:prstGeom>
          <a:solidFill>
            <a:srgbClr val="FBFAF6"/>
          </a:solidFill>
          <a:ln w="6350">
            <a:solidFill>
              <a:srgbClr val="E2DDCF"/>
            </a:solidFill>
            <a:prstDash val="solid"/>
          </a:ln>
        </p:spPr>
      </p:sp>
      <p:pic>
        <p:nvPicPr>
          <p:cNvPr id="5" name="Image 0" descr="CheckCircle">    </p:cNvPr>
          <p:cNvPicPr>
            <a:picLocks noChangeAspect="1"/>
          </p:cNvPicPr>
          <p:nvPr/>
        </p:nvPicPr>
        <p:blipFill>
          <a:blip r:embed="rId1"/>
          <a:srcRect l="0" r="0" t="0" b="0"/>
          <a:stretch/>
        </p:blipFill>
        <p:spPr>
          <a:xfrm>
            <a:off x="1122680" y="2959100"/>
            <a:ext cx="304800" cy="304800"/>
          </a:xfrm>
          <a:prstGeom prst="rect">
            <a:avLst/>
          </a:prstGeom>
        </p:spPr>
      </p:pic>
      <p:sp>
        <p:nvSpPr>
          <p:cNvPr id="6" name="Text 3"/>
          <p:cNvSpPr/>
          <p:nvPr/>
        </p:nvSpPr>
        <p:spPr>
          <a:xfrm>
            <a:off x="1554480" y="2943861"/>
            <a:ext cx="359549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Stored by our contract</a:t>
            </a:r>
            <a:endParaRPr lang="en-US" sz="2200" dirty="0"/>
          </a:p>
        </p:txBody>
      </p:sp>
      <p:sp>
        <p:nvSpPr>
          <p:cNvPr id="7" name="Text 4"/>
          <p:cNvSpPr/>
          <p:nvPr/>
        </p:nvSpPr>
        <p:spPr>
          <a:xfrm>
            <a:off x="1199388" y="3431539"/>
            <a:ext cx="4614367" cy="6350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4A5568"/>
                </a:solidFill>
                <a:latin typeface="Arial" pitchFamily="34" charset="0"/>
                <a:ea typeface="Arial" pitchFamily="34" charset="-122"/>
                <a:cs typeface="Arial" pitchFamily="34" charset="-120"/>
              </a:rPr>
              <a:t>One timestamp per ticket: when it was validated</a:t>
            </a:r>
            <a:endParaRPr lang="en-US" sz="1600" dirty="0"/>
          </a:p>
          <a:p>
            <a:pPr algn="l" marL="177292" indent="-177292">
              <a:lnSpc>
                <a:spcPts val="2400"/>
              </a:lnSpc>
              <a:buSzPct val="100000"/>
              <a:buChar char="•"/>
            </a:pPr>
            <a:r>
              <a:rPr lang="en-US" sz="1600" dirty="0">
                <a:solidFill>
                  <a:srgbClr val="4A5568"/>
                </a:solidFill>
                <a:latin typeface="Arial" pitchFamily="34" charset="0"/>
                <a:ea typeface="Arial" pitchFamily="34" charset="-122"/>
                <a:cs typeface="Arial" pitchFamily="34" charset="-120"/>
              </a:rPr>
              <a:t>Events with ticket IDs only, no addresses</a:t>
            </a:r>
            <a:endParaRPr lang="en-US" sz="1600" dirty="0"/>
          </a:p>
        </p:txBody>
      </p:sp>
      <p:sp>
        <p:nvSpPr>
          <p:cNvPr id="8" name="Shape 5"/>
          <p:cNvSpPr/>
          <p:nvPr/>
        </p:nvSpPr>
        <p:spPr>
          <a:xfrm>
            <a:off x="6200775" y="2637157"/>
            <a:ext cx="5175250" cy="2015490"/>
          </a:xfrm>
          <a:prstGeom prst="roundRect">
            <a:avLst>
              <a:gd name="adj" fmla="val 6144"/>
            </a:avLst>
          </a:prstGeom>
          <a:solidFill>
            <a:srgbClr val="FBFAF6"/>
          </a:solidFill>
          <a:ln w="6350">
            <a:solidFill>
              <a:srgbClr val="E2DDCF"/>
            </a:solidFill>
            <a:prstDash val="solid"/>
          </a:ln>
        </p:spPr>
      </p:sp>
      <p:pic>
        <p:nvPicPr>
          <p:cNvPr id="9" name="Image 1" descr="Globe">    </p:cNvPr>
          <p:cNvPicPr>
            <a:picLocks noChangeAspect="1"/>
          </p:cNvPicPr>
          <p:nvPr/>
        </p:nvPicPr>
        <p:blipFill>
          <a:blip r:embed="rId2"/>
          <a:srcRect l="0" r="0" t="0" b="0"/>
          <a:stretch/>
        </p:blipFill>
        <p:spPr>
          <a:xfrm>
            <a:off x="6507480" y="2959100"/>
            <a:ext cx="304800" cy="304800"/>
          </a:xfrm>
          <a:prstGeom prst="rect">
            <a:avLst/>
          </a:prstGeom>
        </p:spPr>
      </p:pic>
      <p:sp>
        <p:nvSpPr>
          <p:cNvPr id="10" name="Text 6"/>
          <p:cNvSpPr/>
          <p:nvPr/>
        </p:nvSpPr>
        <p:spPr>
          <a:xfrm>
            <a:off x="6939280" y="2943861"/>
            <a:ext cx="26641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Public by design</a:t>
            </a:r>
            <a:endParaRPr lang="en-US" sz="2200" dirty="0"/>
          </a:p>
        </p:txBody>
      </p:sp>
      <p:sp>
        <p:nvSpPr>
          <p:cNvPr id="11" name="Text 7"/>
          <p:cNvSpPr/>
          <p:nvPr/>
        </p:nvSpPr>
        <p:spPr>
          <a:xfrm>
            <a:off x="6584188" y="3431539"/>
            <a:ext cx="4614367" cy="9398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4A5568"/>
                </a:solidFill>
                <a:latin typeface="Arial" pitchFamily="34" charset="0"/>
                <a:ea typeface="Arial" pitchFamily="34" charset="-122"/>
                <a:cs typeface="Arial" pitchFamily="34" charset="-120"/>
              </a:rPr>
              <a:t>Which address owns a ticket (ERC-721)</a:t>
            </a:r>
            <a:endParaRPr lang="en-US" sz="1600" dirty="0"/>
          </a:p>
          <a:p>
            <a:pPr algn="l" marL="177292" indent="-177292">
              <a:lnSpc>
                <a:spcPts val="2400"/>
              </a:lnSpc>
              <a:buSzPct val="100000"/>
              <a:buChar char="•"/>
            </a:pPr>
            <a:r>
              <a:rPr lang="en-US" sz="1600" dirty="0">
                <a:solidFill>
                  <a:srgbClr val="4A5568"/>
                </a:solidFill>
                <a:latin typeface="Arial" pitchFamily="34" charset="0"/>
                <a:ea typeface="Arial" pitchFamily="34" charset="-122"/>
                <a:cs typeface="Arial" pitchFamily="34" charset="-120"/>
              </a:rPr>
              <a:t>Payments between addresses (ERC-20)</a:t>
            </a:r>
            <a:endParaRPr lang="en-US" sz="1600" dirty="0"/>
          </a:p>
          <a:p>
            <a:pPr algn="l" marL="177292" indent="-177292">
              <a:lnSpc>
                <a:spcPts val="2400"/>
              </a:lnSpc>
              <a:buSzPct val="100000"/>
              <a:buChar char="•"/>
            </a:pPr>
            <a:r>
              <a:rPr lang="en-US" sz="1600" dirty="0">
                <a:solidFill>
                  <a:srgbClr val="4A5568"/>
                </a:solidFill>
                <a:latin typeface="Arial" pitchFamily="34" charset="0"/>
                <a:ea typeface="Arial" pitchFamily="34" charset="-122"/>
                <a:cs typeface="Arial" pitchFamily="34" charset="-120"/>
              </a:rPr>
              <a:t>Who sent each transaction</a:t>
            </a:r>
            <a:endParaRPr lang="en-US" sz="1600" dirty="0"/>
          </a:p>
        </p:txBody>
      </p:sp>
      <p:sp>
        <p:nvSpPr>
          <p:cNvPr id="12" name="Shape 8"/>
          <p:cNvSpPr/>
          <p:nvPr/>
        </p:nvSpPr>
        <p:spPr>
          <a:xfrm>
            <a:off x="831850" y="5659121"/>
            <a:ext cx="0" cy="386080"/>
          </a:xfrm>
          <a:prstGeom prst="line">
            <a:avLst/>
          </a:prstGeom>
          <a:noFill/>
          <a:ln w="38100">
            <a:solidFill>
              <a:srgbClr val="F2A541"/>
            </a:solidFill>
            <a:prstDash val="solid"/>
          </a:ln>
        </p:spPr>
      </p:sp>
      <p:sp>
        <p:nvSpPr>
          <p:cNvPr id="13" name="Text 9"/>
          <p:cNvSpPr/>
          <p:nvPr/>
        </p:nvSpPr>
        <p:spPr>
          <a:xfrm>
            <a:off x="1051560" y="5709921"/>
            <a:ext cx="88907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No personal data goes on chain.</a:t>
            </a:r>
            <a:r>
              <a:rPr lang="en-US" sz="1600" dirty="0">
                <a:solidFill>
                  <a:srgbClr val="14213D"/>
                </a:solidFill>
                <a:latin typeface="Arial" pitchFamily="34" charset="0"/>
                <a:ea typeface="Arial" pitchFamily="34" charset="-122"/>
                <a:cs typeface="Arial" pitchFamily="34" charset="-120"/>
              </a:rPr>
              <a:t> Today’s mitigation: riders use a fresh address for each ticket.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THE PROTOTYPE</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E"/>
                </a:solidFill>
                <a:latin typeface="Arial" pitchFamily="34" charset="0"/>
                <a:ea typeface="Arial" pitchFamily="34" charset="-122"/>
                <a:cs typeface="Arial" pitchFamily="34" charset="-120"/>
              </a:rPr>
              <a:t>What we built</a:t>
            </a:r>
            <a:endParaRPr lang="en-US" sz="3600" dirty="0"/>
          </a:p>
        </p:txBody>
      </p:sp>
      <p:sp>
        <p:nvSpPr>
          <p:cNvPr id="4" name="Text 2"/>
          <p:cNvSpPr/>
          <p:nvPr/>
        </p:nvSpPr>
        <p:spPr>
          <a:xfrm>
            <a:off x="812800" y="2037079"/>
            <a:ext cx="2877820" cy="1549400"/>
          </a:xfrm>
          <a:prstGeom prst="rect">
            <a:avLst/>
          </a:prstGeom>
          <a:noFill/>
          <a:ln/>
        </p:spPr>
        <p:txBody>
          <a:bodyPr wrap="square" lIns="0" tIns="0" rIns="0" bIns="0" rtlCol="0" anchor="t">
            <a:normAutofit/>
          </a:bodyPr>
          <a:lstStyle/>
          <a:p>
            <a:pPr algn="l" indent="0" marL="0">
              <a:lnSpc>
                <a:spcPts val="12000"/>
              </a:lnSpc>
              <a:buNone/>
            </a:pPr>
            <a:r>
              <a:rPr lang="en-US" sz="12000" b="1" dirty="0">
                <a:solidFill>
                  <a:srgbClr val="F2A541"/>
                </a:solidFill>
                <a:latin typeface="Arial" pitchFamily="34" charset="0"/>
                <a:ea typeface="Arial" pitchFamily="34" charset="-122"/>
                <a:cs typeface="Arial" pitchFamily="34" charset="-120"/>
              </a:rPr>
              <a:t>14</a:t>
            </a:r>
            <a:endParaRPr lang="en-US" sz="12000" dirty="0"/>
          </a:p>
        </p:txBody>
      </p:sp>
      <p:sp>
        <p:nvSpPr>
          <p:cNvPr id="5" name="Text 3"/>
          <p:cNvSpPr/>
          <p:nvPr/>
        </p:nvSpPr>
        <p:spPr>
          <a:xfrm>
            <a:off x="812800" y="3662679"/>
            <a:ext cx="28778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Solidity unit tests: buying, validation, expiry, transfers and withdrawal</a:t>
            </a:r>
            <a:endParaRPr lang="en-US" sz="1600" dirty="0"/>
          </a:p>
        </p:txBody>
      </p:sp>
      <p:sp>
        <p:nvSpPr>
          <p:cNvPr id="6" name="Shape 4"/>
          <p:cNvSpPr/>
          <p:nvPr/>
        </p:nvSpPr>
        <p:spPr>
          <a:xfrm>
            <a:off x="4216400" y="2043429"/>
            <a:ext cx="7162800" cy="0"/>
          </a:xfrm>
          <a:prstGeom prst="line">
            <a:avLst/>
          </a:prstGeom>
          <a:noFill/>
          <a:ln w="12700">
            <a:solidFill>
              <a:srgbClr val="33456E"/>
            </a:solidFill>
            <a:prstDash val="solid"/>
          </a:ln>
        </p:spPr>
      </p:sp>
      <p:sp>
        <p:nvSpPr>
          <p:cNvPr id="7" name="Text 5"/>
          <p:cNvSpPr/>
          <p:nvPr/>
        </p:nvSpPr>
        <p:spPr>
          <a:xfrm>
            <a:off x="4216400" y="2225042"/>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Arial" pitchFamily="34" charset="0"/>
                <a:ea typeface="Arial" pitchFamily="34" charset="-122"/>
                <a:cs typeface="Arial" pitchFamily="34" charset="-120"/>
              </a:rPr>
              <a:t>Contracts</a:t>
            </a:r>
            <a:endParaRPr lang="en-US" sz="1600" dirty="0"/>
          </a:p>
        </p:txBody>
      </p:sp>
      <p:sp>
        <p:nvSpPr>
          <p:cNvPr id="8" name="Text 6"/>
          <p:cNvSpPr/>
          <p:nvPr/>
        </p:nvSpPr>
        <p:spPr>
          <a:xfrm>
            <a:off x="6324600" y="2225042"/>
            <a:ext cx="520623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BusTicket.sol and MockEURC.sol</a:t>
            </a:r>
            <a:endParaRPr lang="en-US" sz="1600" dirty="0"/>
          </a:p>
        </p:txBody>
      </p:sp>
      <p:sp>
        <p:nvSpPr>
          <p:cNvPr id="9" name="Shape 7"/>
          <p:cNvSpPr/>
          <p:nvPr/>
        </p:nvSpPr>
        <p:spPr>
          <a:xfrm>
            <a:off x="4216400" y="2693671"/>
            <a:ext cx="7162800" cy="0"/>
          </a:xfrm>
          <a:prstGeom prst="line">
            <a:avLst/>
          </a:prstGeom>
          <a:noFill/>
          <a:ln w="12700">
            <a:solidFill>
              <a:srgbClr val="33456E"/>
            </a:solidFill>
            <a:prstDash val="solid"/>
          </a:ln>
        </p:spPr>
      </p:sp>
      <p:sp>
        <p:nvSpPr>
          <p:cNvPr id="10" name="Text 8"/>
          <p:cNvSpPr/>
          <p:nvPr/>
        </p:nvSpPr>
        <p:spPr>
          <a:xfrm>
            <a:off x="4216400" y="2875279"/>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Arial" pitchFamily="34" charset="0"/>
                <a:ea typeface="Arial" pitchFamily="34" charset="-122"/>
                <a:cs typeface="Arial" pitchFamily="34" charset="-120"/>
              </a:rPr>
              <a:t>Deployment</a:t>
            </a:r>
            <a:endParaRPr lang="en-US" sz="1600" dirty="0"/>
          </a:p>
        </p:txBody>
      </p:sp>
      <p:sp>
        <p:nvSpPr>
          <p:cNvPr id="11" name="Text 9"/>
          <p:cNvSpPr/>
          <p:nvPr/>
        </p:nvSpPr>
        <p:spPr>
          <a:xfrm>
            <a:off x="6324600" y="2875279"/>
            <a:ext cx="520623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Hardhat Ignition module, ticket price as a parameter</a:t>
            </a:r>
            <a:endParaRPr lang="en-US" sz="1600" dirty="0"/>
          </a:p>
        </p:txBody>
      </p:sp>
      <p:sp>
        <p:nvSpPr>
          <p:cNvPr id="12" name="Shape 10"/>
          <p:cNvSpPr/>
          <p:nvPr/>
        </p:nvSpPr>
        <p:spPr>
          <a:xfrm>
            <a:off x="4216400" y="3343914"/>
            <a:ext cx="7162800" cy="0"/>
          </a:xfrm>
          <a:prstGeom prst="line">
            <a:avLst/>
          </a:prstGeom>
          <a:noFill/>
          <a:ln w="12700">
            <a:solidFill>
              <a:srgbClr val="33456E"/>
            </a:solidFill>
            <a:prstDash val="solid"/>
          </a:ln>
        </p:spPr>
      </p:sp>
      <p:sp>
        <p:nvSpPr>
          <p:cNvPr id="13" name="Text 11"/>
          <p:cNvSpPr/>
          <p:nvPr/>
        </p:nvSpPr>
        <p:spPr>
          <a:xfrm>
            <a:off x="4216400" y="3525521"/>
            <a:ext cx="196215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Arial" pitchFamily="34" charset="0"/>
                <a:ea typeface="Arial" pitchFamily="34" charset="-122"/>
                <a:cs typeface="Arial" pitchFamily="34" charset="-120"/>
              </a:rPr>
              <a:t>Demo script</a:t>
            </a:r>
            <a:endParaRPr lang="en-US" sz="1600" dirty="0"/>
          </a:p>
        </p:txBody>
      </p:sp>
      <p:sp>
        <p:nvSpPr>
          <p:cNvPr id="14" name="Text 12"/>
          <p:cNvSpPr/>
          <p:nvPr/>
        </p:nvSpPr>
        <p:spPr>
          <a:xfrm>
            <a:off x="6324600" y="3525521"/>
            <a:ext cx="520623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Buy, validate, conductor check, expiry and withdraw in one run</a:t>
            </a:r>
            <a:endParaRPr lang="en-US" sz="1600" dirty="0"/>
          </a:p>
        </p:txBody>
      </p:sp>
      <p:sp>
        <p:nvSpPr>
          <p:cNvPr id="15" name="Shape 13"/>
          <p:cNvSpPr/>
          <p:nvPr/>
        </p:nvSpPr>
        <p:spPr>
          <a:xfrm>
            <a:off x="4216400" y="4278629"/>
            <a:ext cx="7162800" cy="0"/>
          </a:xfrm>
          <a:prstGeom prst="line">
            <a:avLst/>
          </a:prstGeom>
          <a:noFill/>
          <a:ln w="12700">
            <a:solidFill>
              <a:srgbClr val="33456E"/>
            </a:solidFill>
            <a:prstDash val="solid"/>
          </a:ln>
        </p:spPr>
      </p:sp>
      <p:sp>
        <p:nvSpPr>
          <p:cNvPr id="16" name="Shape 14"/>
          <p:cNvSpPr/>
          <p:nvPr/>
        </p:nvSpPr>
        <p:spPr>
          <a:xfrm>
            <a:off x="4216400" y="5210809"/>
            <a:ext cx="7162800" cy="0"/>
          </a:xfrm>
          <a:prstGeom prst="line">
            <a:avLst/>
          </a:prstGeom>
          <a:noFill/>
          <a:ln w="12700">
            <a:solidFill>
              <a:srgbClr val="33456E"/>
            </a:solidFill>
            <a:prstDash val="solid"/>
          </a:ln>
        </p:spPr>
      </p:sp>
      <p:sp>
        <p:nvSpPr>
          <p:cNvPr id="17" name="Text 15"/>
          <p:cNvSpPr/>
          <p:nvPr/>
        </p:nvSpPr>
        <p:spPr>
          <a:xfrm>
            <a:off x="4216400" y="4460242"/>
            <a:ext cx="196215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Arial" pitchFamily="34" charset="0"/>
                <a:ea typeface="Arial" pitchFamily="34" charset="-122"/>
                <a:cs typeface="Arial" pitchFamily="34" charset="-120"/>
              </a:rPr>
              <a:t>Web app</a:t>
            </a:r>
            <a:endParaRPr lang="en-US" sz="1600" dirty="0"/>
          </a:p>
        </p:txBody>
      </p:sp>
      <p:sp>
        <p:nvSpPr>
          <p:cNvPr id="18" name="Text 16"/>
          <p:cNvSpPr/>
          <p:nvPr/>
        </p:nvSpPr>
        <p:spPr>
          <a:xfrm>
            <a:off x="6324600" y="4460242"/>
            <a:ext cx="520623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Rider and conductor views; “Skip 91 min” fast-forwards the chain clock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LIMITATIONS</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What the prototype doesn’t solve yet</a:t>
            </a:r>
            <a:endParaRPr lang="en-US" sz="3600" dirty="0"/>
          </a:p>
        </p:txBody>
      </p:sp>
      <p:sp>
        <p:nvSpPr>
          <p:cNvPr id="4" name="Shape 2"/>
          <p:cNvSpPr/>
          <p:nvPr/>
        </p:nvSpPr>
        <p:spPr>
          <a:xfrm>
            <a:off x="815975" y="1938654"/>
            <a:ext cx="3380264" cy="1946910"/>
          </a:xfrm>
          <a:prstGeom prst="roundRect">
            <a:avLst>
              <a:gd name="adj" fmla="val 6360"/>
            </a:avLst>
          </a:prstGeom>
          <a:solidFill>
            <a:srgbClr val="FBFAF6"/>
          </a:solidFill>
          <a:ln w="6350">
            <a:solidFill>
              <a:srgbClr val="E2DDCF"/>
            </a:solidFill>
            <a:prstDash val="solid"/>
          </a:ln>
        </p:spPr>
      </p:sp>
      <p:sp>
        <p:nvSpPr>
          <p:cNvPr id="5" name="Text 3"/>
          <p:cNvSpPr/>
          <p:nvPr/>
        </p:nvSpPr>
        <p:spPr>
          <a:xfrm>
            <a:off x="1071880" y="2194564"/>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Pseudonymous, not private</a:t>
            </a:r>
            <a:endParaRPr lang="en-US" sz="1600" dirty="0"/>
          </a:p>
        </p:txBody>
      </p:sp>
      <p:sp>
        <p:nvSpPr>
          <p:cNvPr id="6" name="Text 4"/>
          <p:cNvSpPr/>
          <p:nvPr/>
        </p:nvSpPr>
        <p:spPr>
          <a:xfrm>
            <a:off x="1071880" y="2514600"/>
            <a:ext cx="29545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Owners and payments are public. Once a wallet is linked to a person, their trips are too.</a:t>
            </a:r>
            <a:endParaRPr lang="en-US" sz="1200" dirty="0"/>
          </a:p>
        </p:txBody>
      </p:sp>
      <p:sp>
        <p:nvSpPr>
          <p:cNvPr id="7" name="Shape 5"/>
          <p:cNvSpPr/>
          <p:nvPr/>
        </p:nvSpPr>
        <p:spPr>
          <a:xfrm>
            <a:off x="4405789" y="1938654"/>
            <a:ext cx="3380343" cy="1946910"/>
          </a:xfrm>
          <a:prstGeom prst="roundRect">
            <a:avLst>
              <a:gd name="adj" fmla="val 6360"/>
            </a:avLst>
          </a:prstGeom>
          <a:solidFill>
            <a:srgbClr val="FBFAF6"/>
          </a:solidFill>
          <a:ln w="6350">
            <a:solidFill>
              <a:srgbClr val="E2DDCF"/>
            </a:solidFill>
            <a:prstDash val="solid"/>
          </a:ln>
        </p:spPr>
      </p:sp>
      <p:sp>
        <p:nvSpPr>
          <p:cNvPr id="8" name="Text 6"/>
          <p:cNvSpPr/>
          <p:nvPr/>
        </p:nvSpPr>
        <p:spPr>
          <a:xfrm>
            <a:off x="4661694" y="2194564"/>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Wallet experience</a:t>
            </a:r>
            <a:endParaRPr lang="en-US" sz="1600" dirty="0"/>
          </a:p>
        </p:txBody>
      </p:sp>
      <p:sp>
        <p:nvSpPr>
          <p:cNvPr id="9" name="Text 7"/>
          <p:cNvSpPr/>
          <p:nvPr/>
        </p:nvSpPr>
        <p:spPr>
          <a:xfrm>
            <a:off x="4661694" y="2514600"/>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Riders must manage keys and hold stablecoin. A lost key means a lost ticket.</a:t>
            </a:r>
            <a:endParaRPr lang="en-US" sz="1200" dirty="0"/>
          </a:p>
        </p:txBody>
      </p:sp>
      <p:sp>
        <p:nvSpPr>
          <p:cNvPr id="10" name="Shape 8"/>
          <p:cNvSpPr/>
          <p:nvPr/>
        </p:nvSpPr>
        <p:spPr>
          <a:xfrm>
            <a:off x="7995682" y="1938654"/>
            <a:ext cx="3380343" cy="1946910"/>
          </a:xfrm>
          <a:prstGeom prst="roundRect">
            <a:avLst>
              <a:gd name="adj" fmla="val 6360"/>
            </a:avLst>
          </a:prstGeom>
          <a:solidFill>
            <a:srgbClr val="FBFAF6"/>
          </a:solidFill>
          <a:ln w="6350">
            <a:solidFill>
              <a:srgbClr val="E2DDCF"/>
            </a:solidFill>
            <a:prstDash val="solid"/>
          </a:ln>
        </p:spPr>
      </p:sp>
      <p:sp>
        <p:nvSpPr>
          <p:cNvPr id="11" name="Text 9"/>
          <p:cNvSpPr/>
          <p:nvPr/>
        </p:nvSpPr>
        <p:spPr>
          <a:xfrm>
            <a:off x="8251587" y="2194564"/>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Fees and speed</a:t>
            </a:r>
            <a:endParaRPr lang="en-US" sz="1600" dirty="0"/>
          </a:p>
        </p:txBody>
      </p:sp>
      <p:sp>
        <p:nvSpPr>
          <p:cNvPr id="12" name="Text 10"/>
          <p:cNvSpPr/>
          <p:nvPr/>
        </p:nvSpPr>
        <p:spPr>
          <a:xfrm>
            <a:off x="8251587" y="2514600"/>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Buying and validating are transactions. Gas and confirmation time must stay small next to a 1.30 € fare.</a:t>
            </a:r>
            <a:endParaRPr lang="en-US" sz="1200" dirty="0"/>
          </a:p>
        </p:txBody>
      </p:sp>
      <p:sp>
        <p:nvSpPr>
          <p:cNvPr id="13" name="Shape 11"/>
          <p:cNvSpPr/>
          <p:nvPr/>
        </p:nvSpPr>
        <p:spPr>
          <a:xfrm>
            <a:off x="815975" y="4095117"/>
            <a:ext cx="3380264" cy="1946910"/>
          </a:xfrm>
          <a:prstGeom prst="roundRect">
            <a:avLst>
              <a:gd name="adj" fmla="val 6360"/>
            </a:avLst>
          </a:prstGeom>
          <a:solidFill>
            <a:srgbClr val="FBFAF6"/>
          </a:solidFill>
          <a:ln w="6350">
            <a:solidFill>
              <a:srgbClr val="E2DDCF"/>
            </a:solidFill>
            <a:prstDash val="solid"/>
          </a:ln>
        </p:spPr>
      </p:sp>
      <p:sp>
        <p:nvSpPr>
          <p:cNvPr id="14" name="Text 12"/>
          <p:cNvSpPr/>
          <p:nvPr/>
        </p:nvSpPr>
        <p:spPr>
          <a:xfrm>
            <a:off x="1071880" y="4351021"/>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Always online</a:t>
            </a:r>
            <a:endParaRPr lang="en-US" sz="1600" dirty="0"/>
          </a:p>
        </p:txBody>
      </p:sp>
      <p:sp>
        <p:nvSpPr>
          <p:cNvPr id="15" name="Text 13"/>
          <p:cNvSpPr/>
          <p:nvPr/>
        </p:nvSpPr>
        <p:spPr>
          <a:xfrm>
            <a:off x="1071880" y="4671064"/>
            <a:ext cx="29545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Validating and checking need a live connection to a blockchain node.</a:t>
            </a:r>
            <a:endParaRPr lang="en-US" sz="1200" dirty="0"/>
          </a:p>
        </p:txBody>
      </p:sp>
      <p:sp>
        <p:nvSpPr>
          <p:cNvPr id="16" name="Shape 14"/>
          <p:cNvSpPr/>
          <p:nvPr/>
        </p:nvSpPr>
        <p:spPr>
          <a:xfrm>
            <a:off x="4405789" y="4095117"/>
            <a:ext cx="3380343" cy="1946910"/>
          </a:xfrm>
          <a:prstGeom prst="roundRect">
            <a:avLst>
              <a:gd name="adj" fmla="val 6360"/>
            </a:avLst>
          </a:prstGeom>
          <a:solidFill>
            <a:srgbClr val="FBFAF6"/>
          </a:solidFill>
          <a:ln w="6350">
            <a:solidFill>
              <a:srgbClr val="E2DDCF"/>
            </a:solidFill>
            <a:prstDash val="solid"/>
          </a:ln>
        </p:spPr>
      </p:sp>
      <p:sp>
        <p:nvSpPr>
          <p:cNvPr id="17" name="Text 15"/>
          <p:cNvSpPr/>
          <p:nvPr/>
        </p:nvSpPr>
        <p:spPr>
          <a:xfrm>
            <a:off x="4661694" y="4351021"/>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One owner key</a:t>
            </a:r>
            <a:endParaRPr lang="en-US" sz="1600" dirty="0"/>
          </a:p>
        </p:txBody>
      </p:sp>
      <p:sp>
        <p:nvSpPr>
          <p:cNvPr id="18" name="Text 16"/>
          <p:cNvSpPr/>
          <p:nvPr/>
        </p:nvSpPr>
        <p:spPr>
          <a:xfrm>
            <a:off x="4661694" y="4671064"/>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 single account controls the revenue; real use needs a multisig or shared governance.</a:t>
            </a:r>
            <a:endParaRPr lang="en-US" sz="1200" dirty="0"/>
          </a:p>
        </p:txBody>
      </p:sp>
      <p:sp>
        <p:nvSpPr>
          <p:cNvPr id="19" name="Shape 17"/>
          <p:cNvSpPr/>
          <p:nvPr/>
        </p:nvSpPr>
        <p:spPr>
          <a:xfrm>
            <a:off x="7995682" y="4095117"/>
            <a:ext cx="3380343" cy="1946910"/>
          </a:xfrm>
          <a:prstGeom prst="roundRect">
            <a:avLst>
              <a:gd name="adj" fmla="val 6360"/>
            </a:avLst>
          </a:prstGeom>
          <a:solidFill>
            <a:srgbClr val="FBFAF6"/>
          </a:solidFill>
          <a:ln w="6350">
            <a:solidFill>
              <a:srgbClr val="E2DDCF"/>
            </a:solidFill>
            <a:prstDash val="solid"/>
          </a:ln>
        </p:spPr>
      </p:sp>
      <p:sp>
        <p:nvSpPr>
          <p:cNvPr id="20" name="Text 18"/>
          <p:cNvSpPr/>
          <p:nvPr/>
        </p:nvSpPr>
        <p:spPr>
          <a:xfrm>
            <a:off x="8251587" y="4351021"/>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Prototype scope</a:t>
            </a:r>
            <a:endParaRPr lang="en-US" sz="1600" dirty="0"/>
          </a:p>
        </p:txBody>
      </p:sp>
      <p:sp>
        <p:nvSpPr>
          <p:cNvPr id="21" name="Text 19"/>
          <p:cNvSpPr/>
          <p:nvPr/>
        </p:nvSpPr>
        <p:spPr>
          <a:xfrm>
            <a:off x="8251587" y="4671064"/>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One operator, one ticket type, a mock stablecoin and a local test chain.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PROSPECTS</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E"/>
                </a:solidFill>
                <a:latin typeface="Arial" pitchFamily="34" charset="0"/>
                <a:ea typeface="Arial" pitchFamily="34" charset="-122"/>
                <a:cs typeface="Arial" pitchFamily="34" charset="-120"/>
              </a:rPr>
              <a:t>From one contract to one platform</a:t>
            </a:r>
            <a:endParaRPr lang="en-US" sz="3600" dirty="0"/>
          </a:p>
        </p:txBody>
      </p:sp>
      <p:sp>
        <p:nvSpPr>
          <p:cNvPr id="4" name="Shape 2"/>
          <p:cNvSpPr/>
          <p:nvPr/>
        </p:nvSpPr>
        <p:spPr>
          <a:xfrm>
            <a:off x="815975" y="2336167"/>
            <a:ext cx="3380264" cy="2754630"/>
          </a:xfrm>
          <a:prstGeom prst="roundRect">
            <a:avLst>
              <a:gd name="adj" fmla="val 4495"/>
            </a:avLst>
          </a:prstGeom>
          <a:solidFill>
            <a:srgbClr val="1D2D50"/>
          </a:solidFill>
          <a:ln w="6350">
            <a:solidFill>
              <a:srgbClr val="33456E"/>
            </a:solidFill>
            <a:prstDash val="solid"/>
          </a:ln>
        </p:spPr>
      </p:sp>
      <p:sp>
        <p:nvSpPr>
          <p:cNvPr id="5" name="Text 3"/>
          <p:cNvSpPr/>
          <p:nvPr/>
        </p:nvSpPr>
        <p:spPr>
          <a:xfrm>
            <a:off x="1122680" y="2642871"/>
            <a:ext cx="284985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541"/>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1122680" y="3161029"/>
            <a:ext cx="2849859"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6F4EE"/>
                </a:solidFill>
                <a:latin typeface="Arial" pitchFamily="34" charset="0"/>
                <a:ea typeface="Arial" pitchFamily="34" charset="-122"/>
                <a:cs typeface="Arial" pitchFamily="34" charset="-120"/>
              </a:rPr>
              <a:t>Off-chain user profile</a:t>
            </a:r>
            <a:endParaRPr lang="en-US" sz="2200" dirty="0"/>
          </a:p>
        </p:txBody>
      </p:sp>
      <p:sp>
        <p:nvSpPr>
          <p:cNvPr id="7" name="Text 5"/>
          <p:cNvSpPr/>
          <p:nvPr/>
        </p:nvSpPr>
        <p:spPr>
          <a:xfrm>
            <a:off x="1122680" y="3930650"/>
            <a:ext cx="284985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Name, concessions and subscriptions stay in a protected off-chain store. The chain sees only a hash, so data can be corrected or erased.</a:t>
            </a:r>
            <a:endParaRPr lang="en-US" sz="1200" dirty="0"/>
          </a:p>
        </p:txBody>
      </p:sp>
      <p:sp>
        <p:nvSpPr>
          <p:cNvPr id="8" name="Shape 6"/>
          <p:cNvSpPr/>
          <p:nvPr/>
        </p:nvSpPr>
        <p:spPr>
          <a:xfrm>
            <a:off x="4405789" y="2336167"/>
            <a:ext cx="3380343" cy="2754630"/>
          </a:xfrm>
          <a:prstGeom prst="roundRect">
            <a:avLst>
              <a:gd name="adj" fmla="val 4495"/>
            </a:avLst>
          </a:prstGeom>
          <a:solidFill>
            <a:srgbClr val="1D2D50"/>
          </a:solidFill>
          <a:ln w="6350">
            <a:solidFill>
              <a:srgbClr val="33456E"/>
            </a:solidFill>
            <a:prstDash val="solid"/>
          </a:ln>
        </p:spPr>
      </p:sp>
      <p:sp>
        <p:nvSpPr>
          <p:cNvPr id="9" name="Text 7"/>
          <p:cNvSpPr/>
          <p:nvPr/>
        </p:nvSpPr>
        <p:spPr>
          <a:xfrm>
            <a:off x="4712494" y="2642871"/>
            <a:ext cx="284994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541"/>
                </a:solidFill>
                <a:latin typeface="Arial" pitchFamily="34" charset="0"/>
                <a:ea typeface="Arial" pitchFamily="34" charset="-122"/>
                <a:cs typeface="Arial" pitchFamily="34" charset="-120"/>
              </a:rPr>
              <a:t>02</a:t>
            </a:r>
            <a:endParaRPr lang="en-US" sz="2200" dirty="0"/>
          </a:p>
        </p:txBody>
      </p:sp>
      <p:sp>
        <p:nvSpPr>
          <p:cNvPr id="10" name="Text 8"/>
          <p:cNvSpPr/>
          <p:nvPr/>
        </p:nvSpPr>
        <p:spPr>
          <a:xfrm>
            <a:off x="4712494" y="3161029"/>
            <a:ext cx="2849941"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6F4EE"/>
                </a:solidFill>
                <a:latin typeface="Arial" pitchFamily="34" charset="0"/>
                <a:ea typeface="Arial" pitchFamily="34" charset="-122"/>
                <a:cs typeface="Arial" pitchFamily="34" charset="-120"/>
              </a:rPr>
              <a:t>Many operators, many tickets</a:t>
            </a:r>
            <a:endParaRPr lang="en-US" sz="2200" dirty="0"/>
          </a:p>
        </p:txBody>
      </p:sp>
      <p:sp>
        <p:nvSpPr>
          <p:cNvPr id="11" name="Text 9"/>
          <p:cNvSpPr/>
          <p:nvPr/>
        </p:nvSpPr>
        <p:spPr>
          <a:xfrm>
            <a:off x="4712494" y="3930650"/>
            <a:ext cx="2849941"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A registry where each operator plugs in its ticket contract: single rides, day passes, monthly subscriptions, all gathered in one rider account.</a:t>
            </a:r>
            <a:endParaRPr lang="en-US" sz="1200" dirty="0"/>
          </a:p>
        </p:txBody>
      </p:sp>
      <p:sp>
        <p:nvSpPr>
          <p:cNvPr id="12" name="Shape 10"/>
          <p:cNvSpPr/>
          <p:nvPr/>
        </p:nvSpPr>
        <p:spPr>
          <a:xfrm>
            <a:off x="7995682" y="2336167"/>
            <a:ext cx="3380343" cy="2754630"/>
          </a:xfrm>
          <a:prstGeom prst="roundRect">
            <a:avLst>
              <a:gd name="adj" fmla="val 4495"/>
            </a:avLst>
          </a:prstGeom>
          <a:solidFill>
            <a:srgbClr val="1D2D50"/>
          </a:solidFill>
          <a:ln w="6350">
            <a:solidFill>
              <a:srgbClr val="33456E"/>
            </a:solidFill>
            <a:prstDash val="solid"/>
          </a:ln>
        </p:spPr>
      </p:sp>
      <p:sp>
        <p:nvSpPr>
          <p:cNvPr id="13" name="Text 11"/>
          <p:cNvSpPr/>
          <p:nvPr/>
        </p:nvSpPr>
        <p:spPr>
          <a:xfrm>
            <a:off x="8302387" y="2642871"/>
            <a:ext cx="284994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541"/>
                </a:solidFill>
                <a:latin typeface="Arial" pitchFamily="34" charset="0"/>
                <a:ea typeface="Arial" pitchFamily="34" charset="-122"/>
                <a:cs typeface="Arial" pitchFamily="34" charset="-120"/>
              </a:rPr>
              <a:t>03</a:t>
            </a:r>
            <a:endParaRPr lang="en-US" sz="2200" dirty="0"/>
          </a:p>
        </p:txBody>
      </p:sp>
      <p:sp>
        <p:nvSpPr>
          <p:cNvPr id="14" name="Text 12"/>
          <p:cNvSpPr/>
          <p:nvPr/>
        </p:nvSpPr>
        <p:spPr>
          <a:xfrm>
            <a:off x="8302387" y="3161029"/>
            <a:ext cx="2849941"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6F4EE"/>
                </a:solidFill>
                <a:latin typeface="Arial" pitchFamily="34" charset="0"/>
                <a:ea typeface="Arial" pitchFamily="34" charset="-122"/>
                <a:cs typeface="Arial" pitchFamily="34" charset="-120"/>
              </a:rPr>
              <a:t>One interface to issue and validate</a:t>
            </a:r>
            <a:endParaRPr lang="en-US" sz="2200" dirty="0"/>
          </a:p>
        </p:txBody>
      </p:sp>
      <p:sp>
        <p:nvSpPr>
          <p:cNvPr id="15" name="Text 13"/>
          <p:cNvSpPr/>
          <p:nvPr/>
        </p:nvSpPr>
        <p:spPr>
          <a:xfrm>
            <a:off x="8302387" y="3930650"/>
            <a:ext cx="2849941"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A common API and SDK (issue, validate, check) used the same way by every operator, bus validator and conductor app.</a:t>
            </a:r>
            <a:endParaRPr lang="en-US" sz="1200" dirty="0"/>
          </a:p>
        </p:txBody>
      </p:sp>
      <p:sp>
        <p:nvSpPr>
          <p:cNvPr id="16" name="Text 14"/>
          <p:cNvSpPr/>
          <p:nvPr/>
        </p:nvSpPr>
        <p:spPr>
          <a:xfrm>
            <a:off x="812800" y="57962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Arial" pitchFamily="34" charset="0"/>
                <a:ea typeface="Arial" pitchFamily="34" charset="-122"/>
                <a:cs typeface="Arial" pitchFamily="34" charset="-120"/>
              </a:rPr>
              <a:t>Also next:</a:t>
            </a:r>
            <a:r>
              <a:rPr lang="en-US" sz="1400" dirty="0">
                <a:solidFill>
                  <a:srgbClr val="C9D3E3"/>
                </a:solidFill>
                <a:latin typeface="Arial" pitchFamily="34" charset="0"/>
                <a:ea typeface="Arial" pitchFamily="34" charset="-122"/>
                <a:cs typeface="Arial" pitchFamily="34" charset="-120"/>
              </a:rPr>
              <a:t> a low-fee layer 2 · QR codes with signed messages for offline checks · multisig ownership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6E12"/>
                </a:solidFill>
                <a:latin typeface="Arial" pitchFamily="34" charset="0"/>
                <a:ea typeface="Arial" pitchFamily="34" charset="-122"/>
                <a:cs typeface="Arial" pitchFamily="34" charset="-120"/>
              </a:rPr>
              <a:t>THE VISION</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Arial" pitchFamily="34" charset="0"/>
                <a:ea typeface="Arial" pitchFamily="34" charset="-122"/>
                <a:cs typeface="Arial" pitchFamily="34" charset="-120"/>
              </a:rPr>
              <a:t>The common ticket platform</a:t>
            </a:r>
            <a:endParaRPr lang="en-US" sz="3600" dirty="0"/>
          </a:p>
        </p:txBody>
      </p:sp>
      <p:pic>
        <p:nvPicPr>
          <p:cNvPr id="4" name="Image 0" descr="connector">    </p:cNvPr>
          <p:cNvPicPr>
            <a:picLocks noChangeAspect="1"/>
          </p:cNvPicPr>
          <p:nvPr/>
        </p:nvPicPr>
        <p:blipFill>
          <a:blip r:embed="rId1"/>
          <a:srcRect l="0" r="0" t="0" b="0"/>
          <a:stretch/>
        </p:blipFill>
        <p:spPr>
          <a:xfrm>
            <a:off x="3175000" y="2235200"/>
            <a:ext cx="939800" cy="101600"/>
          </a:xfrm>
          <a:prstGeom prst="rect">
            <a:avLst/>
          </a:prstGeom>
        </p:spPr>
      </p:pic>
      <p:pic>
        <p:nvPicPr>
          <p:cNvPr id="5" name="Image 1" descr="connector">    </p:cNvPr>
          <p:cNvPicPr>
            <a:picLocks noChangeAspect="1"/>
          </p:cNvPicPr>
          <p:nvPr/>
        </p:nvPicPr>
        <p:blipFill>
          <a:blip r:embed="rId2"/>
          <a:srcRect l="0" r="0" t="0" b="0"/>
          <a:stretch/>
        </p:blipFill>
        <p:spPr>
          <a:xfrm>
            <a:off x="3175000" y="3060700"/>
            <a:ext cx="939800" cy="101600"/>
          </a:xfrm>
          <a:prstGeom prst="rect">
            <a:avLst/>
          </a:prstGeom>
        </p:spPr>
      </p:pic>
      <p:pic>
        <p:nvPicPr>
          <p:cNvPr id="6" name="Image 2" descr="connector">    </p:cNvPr>
          <p:cNvPicPr>
            <a:picLocks noChangeAspect="1"/>
          </p:cNvPicPr>
          <p:nvPr/>
        </p:nvPicPr>
        <p:blipFill>
          <a:blip r:embed="rId3"/>
          <a:srcRect l="0" r="0" t="0" b="0"/>
          <a:stretch/>
        </p:blipFill>
        <p:spPr>
          <a:xfrm>
            <a:off x="3175000" y="3886200"/>
            <a:ext cx="939800" cy="101600"/>
          </a:xfrm>
          <a:prstGeom prst="rect">
            <a:avLst/>
          </a:prstGeom>
        </p:spPr>
      </p:pic>
      <p:pic>
        <p:nvPicPr>
          <p:cNvPr id="7" name="Image 3" descr="connector">    </p:cNvPr>
          <p:cNvPicPr>
            <a:picLocks noChangeAspect="1"/>
          </p:cNvPicPr>
          <p:nvPr/>
        </p:nvPicPr>
        <p:blipFill>
          <a:blip r:embed="rId4"/>
          <a:srcRect l="0" r="0" t="0" b="0"/>
          <a:stretch/>
        </p:blipFill>
        <p:spPr>
          <a:xfrm>
            <a:off x="7188200" y="2235200"/>
            <a:ext cx="863600" cy="101600"/>
          </a:xfrm>
          <a:prstGeom prst="rect">
            <a:avLst/>
          </a:prstGeom>
        </p:spPr>
      </p:pic>
      <p:pic>
        <p:nvPicPr>
          <p:cNvPr id="8" name="Image 4" descr="connector">    </p:cNvPr>
          <p:cNvPicPr>
            <a:picLocks noChangeAspect="1"/>
          </p:cNvPicPr>
          <p:nvPr/>
        </p:nvPicPr>
        <p:blipFill>
          <a:blip r:embed="rId5"/>
          <a:srcRect l="0" r="0" t="0" b="0"/>
          <a:stretch/>
        </p:blipFill>
        <p:spPr>
          <a:xfrm>
            <a:off x="9639300" y="2616200"/>
            <a:ext cx="101600" cy="292100"/>
          </a:xfrm>
          <a:prstGeom prst="rect">
            <a:avLst/>
          </a:prstGeom>
        </p:spPr>
      </p:pic>
      <p:pic>
        <p:nvPicPr>
          <p:cNvPr id="9" name="Image 5" descr="connector">    </p:cNvPr>
          <p:cNvPicPr>
            <a:picLocks noChangeAspect="1"/>
          </p:cNvPicPr>
          <p:nvPr/>
        </p:nvPicPr>
        <p:blipFill>
          <a:blip r:embed="rId6"/>
          <a:srcRect l="0" r="0" t="0" b="0"/>
          <a:stretch/>
        </p:blipFill>
        <p:spPr>
          <a:xfrm>
            <a:off x="9639300" y="3568700"/>
            <a:ext cx="101600" cy="292100"/>
          </a:xfrm>
          <a:prstGeom prst="rect">
            <a:avLst/>
          </a:prstGeom>
        </p:spPr>
      </p:pic>
      <p:pic>
        <p:nvPicPr>
          <p:cNvPr id="10" name="Image 6" descr="connector">    </p:cNvPr>
          <p:cNvPicPr>
            <a:picLocks noChangeAspect="1"/>
          </p:cNvPicPr>
          <p:nvPr/>
        </p:nvPicPr>
        <p:blipFill>
          <a:blip r:embed="rId7"/>
          <a:srcRect l="0" r="0" t="0" b="0"/>
          <a:stretch/>
        </p:blipFill>
        <p:spPr>
          <a:xfrm>
            <a:off x="5600700" y="4267200"/>
            <a:ext cx="101600" cy="482600"/>
          </a:xfrm>
          <a:prstGeom prst="rect">
            <a:avLst/>
          </a:prstGeom>
        </p:spPr>
      </p:pic>
      <p:sp>
        <p:nvSpPr>
          <p:cNvPr id="11" name="Shape 2"/>
          <p:cNvSpPr/>
          <p:nvPr/>
        </p:nvSpPr>
        <p:spPr>
          <a:xfrm>
            <a:off x="815975" y="1908175"/>
            <a:ext cx="2406650" cy="755650"/>
          </a:xfrm>
          <a:prstGeom prst="roundRect">
            <a:avLst>
              <a:gd name="adj" fmla="val 13025"/>
            </a:avLst>
          </a:prstGeom>
          <a:solidFill>
            <a:srgbClr val="FBFAF6"/>
          </a:solidFill>
          <a:ln w="6350">
            <a:solidFill>
              <a:srgbClr val="E2DDCF"/>
            </a:solidFill>
            <a:prstDash val="solid"/>
          </a:ln>
        </p:spPr>
      </p:sp>
      <p:sp>
        <p:nvSpPr>
          <p:cNvPr id="12" name="Text 3"/>
          <p:cNvSpPr/>
          <p:nvPr/>
        </p:nvSpPr>
        <p:spPr>
          <a:xfrm>
            <a:off x="995680" y="2044700"/>
            <a:ext cx="21086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Rider app</a:t>
            </a:r>
            <a:endParaRPr lang="en-US" sz="1600" dirty="0"/>
          </a:p>
        </p:txBody>
      </p:sp>
      <p:sp>
        <p:nvSpPr>
          <p:cNvPr id="13" name="Text 4"/>
          <p:cNvSpPr/>
          <p:nvPr/>
        </p:nvSpPr>
        <p:spPr>
          <a:xfrm>
            <a:off x="995680" y="2313942"/>
            <a:ext cx="21086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all tickets, one account</a:t>
            </a:r>
            <a:endParaRPr lang="en-US" sz="1200" dirty="0"/>
          </a:p>
        </p:txBody>
      </p:sp>
      <p:sp>
        <p:nvSpPr>
          <p:cNvPr id="14" name="Shape 5"/>
          <p:cNvSpPr/>
          <p:nvPr/>
        </p:nvSpPr>
        <p:spPr>
          <a:xfrm>
            <a:off x="815975" y="2733675"/>
            <a:ext cx="2406650" cy="755650"/>
          </a:xfrm>
          <a:prstGeom prst="roundRect">
            <a:avLst>
              <a:gd name="adj" fmla="val 13025"/>
            </a:avLst>
          </a:prstGeom>
          <a:solidFill>
            <a:srgbClr val="FBFAF6"/>
          </a:solidFill>
          <a:ln w="6350">
            <a:solidFill>
              <a:srgbClr val="E2DDCF"/>
            </a:solidFill>
            <a:prstDash val="solid"/>
          </a:ln>
        </p:spPr>
      </p:sp>
      <p:sp>
        <p:nvSpPr>
          <p:cNvPr id="15" name="Text 6"/>
          <p:cNvSpPr/>
          <p:nvPr/>
        </p:nvSpPr>
        <p:spPr>
          <a:xfrm>
            <a:off x="995680" y="2870200"/>
            <a:ext cx="21086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Bus validator</a:t>
            </a:r>
            <a:endParaRPr lang="en-US" sz="1600" dirty="0"/>
          </a:p>
        </p:txBody>
      </p:sp>
      <p:sp>
        <p:nvSpPr>
          <p:cNvPr id="16" name="Text 7"/>
          <p:cNvSpPr/>
          <p:nvPr/>
        </p:nvSpPr>
        <p:spPr>
          <a:xfrm>
            <a:off x="995680" y="3139442"/>
            <a:ext cx="21086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on board, any operator</a:t>
            </a:r>
            <a:endParaRPr lang="en-US" sz="1200" dirty="0"/>
          </a:p>
        </p:txBody>
      </p:sp>
      <p:sp>
        <p:nvSpPr>
          <p:cNvPr id="17" name="Shape 8"/>
          <p:cNvSpPr/>
          <p:nvPr/>
        </p:nvSpPr>
        <p:spPr>
          <a:xfrm>
            <a:off x="815975" y="3559175"/>
            <a:ext cx="2406650" cy="755650"/>
          </a:xfrm>
          <a:prstGeom prst="roundRect">
            <a:avLst>
              <a:gd name="adj" fmla="val 13025"/>
            </a:avLst>
          </a:prstGeom>
          <a:solidFill>
            <a:srgbClr val="FBFAF6"/>
          </a:solidFill>
          <a:ln w="6350">
            <a:solidFill>
              <a:srgbClr val="E2DDCF"/>
            </a:solidFill>
            <a:prstDash val="solid"/>
          </a:ln>
        </p:spPr>
      </p:sp>
      <p:sp>
        <p:nvSpPr>
          <p:cNvPr id="18" name="Text 9"/>
          <p:cNvSpPr/>
          <p:nvPr/>
        </p:nvSpPr>
        <p:spPr>
          <a:xfrm>
            <a:off x="995680" y="3695700"/>
            <a:ext cx="21086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Conductor app</a:t>
            </a:r>
            <a:endParaRPr lang="en-US" sz="1600" dirty="0"/>
          </a:p>
        </p:txBody>
      </p:sp>
      <p:sp>
        <p:nvSpPr>
          <p:cNvPr id="19" name="Text 10"/>
          <p:cNvSpPr/>
          <p:nvPr/>
        </p:nvSpPr>
        <p:spPr>
          <a:xfrm>
            <a:off x="995680" y="3964942"/>
            <a:ext cx="21086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read-only checks</a:t>
            </a:r>
            <a:endParaRPr lang="en-US" sz="1200" dirty="0"/>
          </a:p>
        </p:txBody>
      </p:sp>
      <p:sp>
        <p:nvSpPr>
          <p:cNvPr id="20" name="Shape 11"/>
          <p:cNvSpPr/>
          <p:nvPr/>
        </p:nvSpPr>
        <p:spPr>
          <a:xfrm>
            <a:off x="4064000" y="1905000"/>
            <a:ext cx="3175000" cy="2413000"/>
          </a:xfrm>
          <a:prstGeom prst="roundRect">
            <a:avLst>
              <a:gd name="adj" fmla="val 5263"/>
            </a:avLst>
          </a:prstGeom>
          <a:solidFill>
            <a:srgbClr val="F2A541"/>
          </a:solidFill>
          <a:ln/>
        </p:spPr>
      </p:sp>
      <p:sp>
        <p:nvSpPr>
          <p:cNvPr id="21" name="Text 12"/>
          <p:cNvSpPr/>
          <p:nvPr/>
        </p:nvSpPr>
        <p:spPr>
          <a:xfrm>
            <a:off x="4318000" y="21590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COMMON INTERFACE</a:t>
            </a:r>
            <a:endParaRPr lang="en-US" sz="1200" dirty="0"/>
          </a:p>
        </p:txBody>
      </p:sp>
      <p:sp>
        <p:nvSpPr>
          <p:cNvPr id="22" name="Text 13"/>
          <p:cNvSpPr/>
          <p:nvPr/>
        </p:nvSpPr>
        <p:spPr>
          <a:xfrm>
            <a:off x="4318000" y="2448564"/>
            <a:ext cx="274701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One API / SDK</a:t>
            </a:r>
            <a:endParaRPr lang="en-US" sz="2200" dirty="0"/>
          </a:p>
        </p:txBody>
      </p:sp>
      <p:sp>
        <p:nvSpPr>
          <p:cNvPr id="23" name="Text 14"/>
          <p:cNvSpPr/>
          <p:nvPr/>
        </p:nvSpPr>
        <p:spPr>
          <a:xfrm>
            <a:off x="4318000" y="2860042"/>
            <a:ext cx="2747010" cy="87884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issue(type, rider)</a:t>
            </a:r>
            <a:endParaRPr lang="en-US" sz="1400" dirty="0"/>
          </a:p>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validate(ticketId)</a:t>
            </a:r>
            <a:endParaRPr lang="en-US" sz="1400" dirty="0"/>
          </a:p>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check(ticketId, rider)</a:t>
            </a:r>
            <a:endParaRPr lang="en-US" sz="1400" dirty="0"/>
          </a:p>
        </p:txBody>
      </p:sp>
      <p:sp>
        <p:nvSpPr>
          <p:cNvPr id="24" name="Shape 15"/>
          <p:cNvSpPr/>
          <p:nvPr/>
        </p:nvSpPr>
        <p:spPr>
          <a:xfrm>
            <a:off x="4070350" y="4705350"/>
            <a:ext cx="3162300" cy="982980"/>
          </a:xfrm>
          <a:prstGeom prst="roundRect">
            <a:avLst>
              <a:gd name="adj" fmla="val 9690"/>
            </a:avLst>
          </a:prstGeom>
          <a:solidFill>
            <a:srgbClr val="FBFAF6"/>
          </a:solidFill>
          <a:ln w="12700">
            <a:solidFill>
              <a:srgbClr val="B86E12"/>
            </a:solidFill>
            <a:prstDash val="dash"/>
          </a:ln>
        </p:spPr>
      </p:sp>
      <p:sp>
        <p:nvSpPr>
          <p:cNvPr id="25" name="Text 16"/>
          <p:cNvSpPr/>
          <p:nvPr/>
        </p:nvSpPr>
        <p:spPr>
          <a:xfrm>
            <a:off x="4251960" y="4836164"/>
            <a:ext cx="28830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Off-chain user store</a:t>
            </a:r>
            <a:endParaRPr lang="en-US" sz="1600" dirty="0"/>
          </a:p>
        </p:txBody>
      </p:sp>
      <p:sp>
        <p:nvSpPr>
          <p:cNvPr id="26" name="Text 17"/>
          <p:cNvSpPr/>
          <p:nvPr/>
        </p:nvSpPr>
        <p:spPr>
          <a:xfrm>
            <a:off x="4251960" y="5130800"/>
            <a:ext cx="28830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Name, concessions, subscriptions; encrypted and erasable</a:t>
            </a:r>
            <a:endParaRPr lang="en-US" sz="1200" dirty="0"/>
          </a:p>
        </p:txBody>
      </p:sp>
      <p:sp>
        <p:nvSpPr>
          <p:cNvPr id="27" name="Shape 18"/>
          <p:cNvSpPr/>
          <p:nvPr/>
        </p:nvSpPr>
        <p:spPr>
          <a:xfrm>
            <a:off x="8001000" y="1905000"/>
            <a:ext cx="3378200" cy="762000"/>
          </a:xfrm>
          <a:prstGeom prst="roundRect">
            <a:avLst>
              <a:gd name="adj" fmla="val 13333"/>
            </a:avLst>
          </a:prstGeom>
          <a:solidFill>
            <a:srgbClr val="14213D"/>
          </a:solidFill>
          <a:ln/>
        </p:spPr>
      </p:sp>
      <p:sp>
        <p:nvSpPr>
          <p:cNvPr id="28" name="Text 19"/>
          <p:cNvSpPr/>
          <p:nvPr/>
        </p:nvSpPr>
        <p:spPr>
          <a:xfrm>
            <a:off x="8178800" y="20447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Ticket registry</a:t>
            </a:r>
            <a:endParaRPr lang="en-US" sz="1600" dirty="0"/>
          </a:p>
        </p:txBody>
      </p:sp>
      <p:sp>
        <p:nvSpPr>
          <p:cNvPr id="29" name="Text 20"/>
          <p:cNvSpPr/>
          <p:nvPr/>
        </p:nvSpPr>
        <p:spPr>
          <a:xfrm>
            <a:off x="8178800" y="2313942"/>
            <a:ext cx="31132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operators and ticket types</a:t>
            </a:r>
            <a:endParaRPr lang="en-US" sz="1200" dirty="0"/>
          </a:p>
        </p:txBody>
      </p:sp>
      <p:sp>
        <p:nvSpPr>
          <p:cNvPr id="30" name="Shape 21"/>
          <p:cNvSpPr/>
          <p:nvPr/>
        </p:nvSpPr>
        <p:spPr>
          <a:xfrm>
            <a:off x="8001000" y="2857500"/>
            <a:ext cx="3378200" cy="762000"/>
          </a:xfrm>
          <a:prstGeom prst="roundRect">
            <a:avLst>
              <a:gd name="adj" fmla="val 13333"/>
            </a:avLst>
          </a:prstGeom>
          <a:solidFill>
            <a:srgbClr val="14213D"/>
          </a:solidFill>
          <a:ln/>
        </p:spPr>
      </p:sp>
      <p:sp>
        <p:nvSpPr>
          <p:cNvPr id="31" name="Text 22"/>
          <p:cNvSpPr/>
          <p:nvPr/>
        </p:nvSpPr>
        <p:spPr>
          <a:xfrm>
            <a:off x="8178800" y="29972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Operator contracts</a:t>
            </a:r>
            <a:endParaRPr lang="en-US" sz="1600" dirty="0"/>
          </a:p>
        </p:txBody>
      </p:sp>
      <p:sp>
        <p:nvSpPr>
          <p:cNvPr id="32" name="Text 23"/>
          <p:cNvSpPr/>
          <p:nvPr/>
        </p:nvSpPr>
        <p:spPr>
          <a:xfrm>
            <a:off x="8178800" y="3266442"/>
            <a:ext cx="31132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singles, day passes, monthly</a:t>
            </a:r>
            <a:endParaRPr lang="en-US" sz="1200" dirty="0"/>
          </a:p>
        </p:txBody>
      </p:sp>
      <p:sp>
        <p:nvSpPr>
          <p:cNvPr id="33" name="Shape 24"/>
          <p:cNvSpPr/>
          <p:nvPr/>
        </p:nvSpPr>
        <p:spPr>
          <a:xfrm>
            <a:off x="8001000" y="3810000"/>
            <a:ext cx="3378200" cy="762000"/>
          </a:xfrm>
          <a:prstGeom prst="roundRect">
            <a:avLst>
              <a:gd name="adj" fmla="val 13333"/>
            </a:avLst>
          </a:prstGeom>
          <a:solidFill>
            <a:srgbClr val="14213D"/>
          </a:solidFill>
          <a:ln/>
        </p:spPr>
      </p:sp>
      <p:sp>
        <p:nvSpPr>
          <p:cNvPr id="34" name="Text 25"/>
          <p:cNvSpPr/>
          <p:nvPr/>
        </p:nvSpPr>
        <p:spPr>
          <a:xfrm>
            <a:off x="8178800" y="39497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Euro stablecoin</a:t>
            </a:r>
            <a:endParaRPr lang="en-US" sz="1600" dirty="0"/>
          </a:p>
        </p:txBody>
      </p:sp>
      <p:sp>
        <p:nvSpPr>
          <p:cNvPr id="35" name="Text 26"/>
          <p:cNvSpPr/>
          <p:nvPr/>
        </p:nvSpPr>
        <p:spPr>
          <a:xfrm>
            <a:off x="8178800" y="4218942"/>
            <a:ext cx="31132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settles every payment</a:t>
            </a:r>
            <a:endParaRPr lang="en-US" sz="1200" dirty="0"/>
          </a:p>
        </p:txBody>
      </p:sp>
      <p:sp>
        <p:nvSpPr>
          <p:cNvPr id="36" name="Text 27"/>
          <p:cNvSpPr/>
          <p:nvPr/>
        </p:nvSpPr>
        <p:spPr>
          <a:xfrm>
            <a:off x="5753100" y="43815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only a hash on chain</a:t>
            </a:r>
            <a:endParaRPr lang="en-US" sz="1200" dirty="0"/>
          </a:p>
        </p:txBody>
      </p:sp>
      <p:sp>
        <p:nvSpPr>
          <p:cNvPr id="37" name="Text 28"/>
          <p:cNvSpPr/>
          <p:nvPr/>
        </p:nvSpPr>
        <p:spPr>
          <a:xfrm>
            <a:off x="8001000" y="4826000"/>
            <a:ext cx="347954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Dark = on chain, dashed = off chain.</a:t>
            </a:r>
            <a:r>
              <a:rPr lang="en-US" sz="1200" dirty="0">
                <a:solidFill>
                  <a:srgbClr val="4A5568"/>
                </a:solidFill>
                <a:latin typeface="Arial" pitchFamily="34" charset="0"/>
                <a:ea typeface="Arial" pitchFamily="34" charset="-122"/>
                <a:cs typeface="Arial" pitchFamily="34" charset="-120"/>
              </a:rPr>
              <a:t> Personal data never leaves the off-chain store.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19837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541"/>
                </a:solidFill>
                <a:latin typeface="Arial" pitchFamily="34" charset="0"/>
                <a:ea typeface="Arial" pitchFamily="34" charset="-122"/>
                <a:cs typeface="Arial" pitchFamily="34" charset="-120"/>
              </a:rPr>
              <a:t>IN SHORT</a:t>
            </a:r>
            <a:endParaRPr lang="en-US" sz="1200" dirty="0"/>
          </a:p>
        </p:txBody>
      </p:sp>
      <p:sp>
        <p:nvSpPr>
          <p:cNvPr id="3" name="Shape 1"/>
          <p:cNvSpPr/>
          <p:nvPr/>
        </p:nvSpPr>
        <p:spPr>
          <a:xfrm>
            <a:off x="812800" y="2726054"/>
            <a:ext cx="3318907" cy="0"/>
          </a:xfrm>
          <a:prstGeom prst="line">
            <a:avLst/>
          </a:prstGeom>
          <a:noFill/>
          <a:ln w="19050">
            <a:solidFill>
              <a:srgbClr val="F2A541"/>
            </a:solidFill>
            <a:prstDash val="solid"/>
          </a:ln>
        </p:spPr>
      </p:sp>
      <p:sp>
        <p:nvSpPr>
          <p:cNvPr id="4" name="Text 2"/>
          <p:cNvSpPr/>
          <p:nvPr/>
        </p:nvSpPr>
        <p:spPr>
          <a:xfrm>
            <a:off x="812800" y="2884169"/>
            <a:ext cx="341847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Arial" pitchFamily="34" charset="0"/>
                <a:ea typeface="Arial" pitchFamily="34" charset="-122"/>
                <a:cs typeface="Arial" pitchFamily="34" charset="-120"/>
              </a:rPr>
              <a:t>A shared ledger no operator owns</a:t>
            </a:r>
            <a:endParaRPr lang="en-US" sz="2200" dirty="0"/>
          </a:p>
        </p:txBody>
      </p:sp>
      <p:sp>
        <p:nvSpPr>
          <p:cNvPr id="5" name="Shape 3"/>
          <p:cNvSpPr/>
          <p:nvPr/>
        </p:nvSpPr>
        <p:spPr>
          <a:xfrm>
            <a:off x="4436507" y="2726054"/>
            <a:ext cx="3318986" cy="0"/>
          </a:xfrm>
          <a:prstGeom prst="line">
            <a:avLst/>
          </a:prstGeom>
          <a:noFill/>
          <a:ln w="19050">
            <a:solidFill>
              <a:srgbClr val="F2A541"/>
            </a:solidFill>
            <a:prstDash val="solid"/>
          </a:ln>
        </p:spPr>
      </p:sp>
      <p:sp>
        <p:nvSpPr>
          <p:cNvPr id="6" name="Text 4"/>
          <p:cNvSpPr/>
          <p:nvPr/>
        </p:nvSpPr>
        <p:spPr>
          <a:xfrm>
            <a:off x="4436507" y="2884169"/>
            <a:ext cx="3418556"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Arial" pitchFamily="34" charset="0"/>
                <a:ea typeface="Arial" pitchFamily="34" charset="-122"/>
                <a:cs typeface="Arial" pitchFamily="34" charset="-120"/>
              </a:rPr>
              <a:t>Ticket rules enforced in code</a:t>
            </a:r>
            <a:endParaRPr lang="en-US" sz="2200" dirty="0"/>
          </a:p>
        </p:txBody>
      </p:sp>
      <p:sp>
        <p:nvSpPr>
          <p:cNvPr id="7" name="Shape 5"/>
          <p:cNvSpPr/>
          <p:nvPr/>
        </p:nvSpPr>
        <p:spPr>
          <a:xfrm>
            <a:off x="8060293" y="2726054"/>
            <a:ext cx="3318907" cy="0"/>
          </a:xfrm>
          <a:prstGeom prst="line">
            <a:avLst/>
          </a:prstGeom>
          <a:noFill/>
          <a:ln w="19050">
            <a:solidFill>
              <a:srgbClr val="F2A541"/>
            </a:solidFill>
            <a:prstDash val="solid"/>
          </a:ln>
        </p:spPr>
      </p:sp>
      <p:sp>
        <p:nvSpPr>
          <p:cNvPr id="8" name="Text 6"/>
          <p:cNvSpPr/>
          <p:nvPr/>
        </p:nvSpPr>
        <p:spPr>
          <a:xfrm>
            <a:off x="8060293" y="2884169"/>
            <a:ext cx="341847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Arial" pitchFamily="34" charset="0"/>
                <a:ea typeface="Arial" pitchFamily="34" charset="-122"/>
                <a:cs typeface="Arial" pitchFamily="34" charset="-120"/>
              </a:rPr>
              <a:t>Free checks for any conductor</a:t>
            </a:r>
            <a:endParaRPr lang="en-US" sz="2200" dirty="0"/>
          </a:p>
        </p:txBody>
      </p:sp>
      <p:sp>
        <p:nvSpPr>
          <p:cNvPr id="9" name="Text 7"/>
          <p:cNvSpPr/>
          <p:nvPr/>
        </p:nvSpPr>
        <p:spPr>
          <a:xfrm>
            <a:off x="812800" y="385952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F4EE"/>
                </a:solidFill>
                <a:latin typeface="Arial" pitchFamily="34" charset="0"/>
                <a:ea typeface="Arial" pitchFamily="34" charset="-122"/>
                <a:cs typeface="Arial" pitchFamily="34" charset="-120"/>
              </a:rPr>
              <a:t>Thank you. </a:t>
            </a:r>
            <a:r>
              <a:rPr lang="en-US" sz="6000" b="1" dirty="0">
                <a:solidFill>
                  <a:srgbClr val="F2A541"/>
                </a:solidFill>
                <a:latin typeface="Arial" pitchFamily="34" charset="0"/>
                <a:ea typeface="Arial" pitchFamily="34" charset="-122"/>
                <a:cs typeface="Arial" pitchFamily="34" charset="-120"/>
              </a:rPr>
              <a:t>Questions?</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Bussito Salerno</dc:title>
  <dc:subject/>
  <dc:creator/>
  <cp:lastModifiedBy/>
  <cp:revision>1</cp:revision>
  <dcterms:created xsi:type="dcterms:W3CDTF">2026-10-29T13:20:14Z</dcterms:created>
  <dcterms:modified xsi:type="dcterms:W3CDTF">2026-10-29T13:20:14Z</dcterms:modified>
</cp:coreProperties>
</file>